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</p:sldIdLst>
  <p:sldSz cx="18288000" cy="10287000"/>
  <p:notesSz cx="6858000" cy="9144000"/>
  <p:embeddedFontLst>
    <p:embeddedFont>
      <p:font typeface="Lato Bold" charset="1" panose="020F0502020204030203"/>
      <p:regular r:id="rId23"/>
    </p:embeddedFont>
    <p:embeddedFont>
      <p:font typeface="Open Sans Bold" charset="1" panose="00000000000000000000"/>
      <p:regular r:id="rId24"/>
    </p:embeddedFont>
    <p:embeddedFont>
      <p:font typeface="Be Vietnam Ultra-Bold" charset="1" panose="00000900000000000000"/>
      <p:regular r:id="rId25"/>
    </p:embeddedFont>
    <p:embeddedFont>
      <p:font typeface="Open Sans" charset="1" panose="00000000000000000000"/>
      <p:regular r:id="rId2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fonts/font23.fntdata" Type="http://schemas.openxmlformats.org/officeDocument/2006/relationships/font"/><Relationship Id="rId24" Target="fonts/font24.fntdata" Type="http://schemas.openxmlformats.org/officeDocument/2006/relationships/font"/><Relationship Id="rId25" Target="fonts/font25.fntdata" Type="http://schemas.openxmlformats.org/officeDocument/2006/relationships/font"/><Relationship Id="rId26" Target="fonts/font26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7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8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9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4D13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4494633">
            <a:off x="737717" y="7024205"/>
            <a:ext cx="2605188" cy="2468415"/>
          </a:xfrm>
          <a:custGeom>
            <a:avLst/>
            <a:gdLst/>
            <a:ahLst/>
            <a:cxnLst/>
            <a:rect r="r" b="b" t="t" l="l"/>
            <a:pathLst>
              <a:path h="2468415" w="2605188">
                <a:moveTo>
                  <a:pt x="0" y="0"/>
                </a:moveTo>
                <a:lnTo>
                  <a:pt x="2605187" y="0"/>
                </a:lnTo>
                <a:lnTo>
                  <a:pt x="2605187" y="2468415"/>
                </a:lnTo>
                <a:lnTo>
                  <a:pt x="0" y="246841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1213644" y="-550315"/>
            <a:ext cx="5225712" cy="4650884"/>
          </a:xfrm>
          <a:custGeom>
            <a:avLst/>
            <a:gdLst/>
            <a:ahLst/>
            <a:cxnLst/>
            <a:rect r="r" b="b" t="t" l="l"/>
            <a:pathLst>
              <a:path h="4650884" w="5225712">
                <a:moveTo>
                  <a:pt x="0" y="0"/>
                </a:moveTo>
                <a:lnTo>
                  <a:pt x="5225712" y="0"/>
                </a:lnTo>
                <a:lnTo>
                  <a:pt x="5225712" y="4650884"/>
                </a:lnTo>
                <a:lnTo>
                  <a:pt x="0" y="465088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313119">
            <a:off x="3291026" y="3087831"/>
            <a:ext cx="5693252" cy="5444172"/>
          </a:xfrm>
          <a:custGeom>
            <a:avLst/>
            <a:gdLst/>
            <a:ahLst/>
            <a:cxnLst/>
            <a:rect r="r" b="b" t="t" l="l"/>
            <a:pathLst>
              <a:path h="5444172" w="5693252">
                <a:moveTo>
                  <a:pt x="0" y="0"/>
                </a:moveTo>
                <a:lnTo>
                  <a:pt x="5693252" y="0"/>
                </a:lnTo>
                <a:lnTo>
                  <a:pt x="5693252" y="5444173"/>
                </a:lnTo>
                <a:lnTo>
                  <a:pt x="0" y="544417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0229815" y="5706480"/>
            <a:ext cx="7029485" cy="54567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8596"/>
              </a:lnSpc>
            </a:pPr>
            <a:r>
              <a:rPr lang="en-US" sz="7285" b="true">
                <a:solidFill>
                  <a:srgbClr val="FFFFFF"/>
                </a:solidFill>
                <a:latin typeface="Lato Bold"/>
                <a:ea typeface="Lato Bold"/>
                <a:cs typeface="Lato Bold"/>
                <a:sym typeface="Lato Bold"/>
              </a:rPr>
              <a:t>giới thiệu tên và mục lục khái quát toàn bộ ững dụng ai muốn làm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5785030" y="1028700"/>
            <a:ext cx="1483795" cy="10480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8115"/>
              </a:lnSpc>
              <a:spcBef>
                <a:spcPct val="0"/>
              </a:spcBef>
            </a:pPr>
            <a:r>
              <a:rPr lang="en-US" b="true" sz="6877" u="none">
                <a:solidFill>
                  <a:srgbClr val="FFFFFF">
                    <a:alpha val="60000"/>
                  </a:srgbClr>
                </a:solidFill>
                <a:latin typeface="Lato Bold"/>
                <a:ea typeface="Lato Bold"/>
                <a:cs typeface="Lato Bold"/>
                <a:sym typeface="Lato Bold"/>
              </a:rPr>
              <a:t>02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B10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1049000" y="0"/>
            <a:ext cx="7239000" cy="10287000"/>
          </a:xfrm>
          <a:custGeom>
            <a:avLst/>
            <a:gdLst/>
            <a:ahLst/>
            <a:cxnLst/>
            <a:rect r="r" b="b" t="t" l="l"/>
            <a:pathLst>
              <a:path h="10287000" w="7239000">
                <a:moveTo>
                  <a:pt x="0" y="0"/>
                </a:moveTo>
                <a:lnTo>
                  <a:pt x="7239000" y="0"/>
                </a:lnTo>
                <a:lnTo>
                  <a:pt x="7239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3" t="0" r="-3" b="0"/>
            </a:stretch>
          </a:blipFill>
          <a:ln cap="sq">
            <a:noFill/>
            <a:prstDash val="solid"/>
            <a:miter/>
          </a:ln>
        </p:spPr>
      </p:sp>
      <p:grpSp>
        <p:nvGrpSpPr>
          <p:cNvPr name="Group 3" id="3"/>
          <p:cNvGrpSpPr/>
          <p:nvPr/>
        </p:nvGrpSpPr>
        <p:grpSpPr>
          <a:xfrm rot="0">
            <a:off x="9048750" y="0"/>
            <a:ext cx="4762500" cy="10287000"/>
            <a:chOff x="0" y="0"/>
            <a:chExt cx="6350000" cy="13716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6350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6350000">
                  <a:moveTo>
                    <a:pt x="0" y="0"/>
                  </a:moveTo>
                  <a:lnTo>
                    <a:pt x="6350000" y="0"/>
                  </a:lnTo>
                  <a:lnTo>
                    <a:pt x="6350000" y="13716000"/>
                  </a:lnTo>
                  <a:lnTo>
                    <a:pt x="0" y="13716000"/>
                  </a:lnTo>
                  <a:close/>
                </a:path>
              </a:pathLst>
            </a:custGeom>
            <a:gradFill rotWithShape="true">
              <a:gsLst>
                <a:gs pos="0">
                  <a:srgbClr val="0B1026">
                    <a:alpha val="100000"/>
                  </a:srgbClr>
                </a:gs>
                <a:gs pos="100000">
                  <a:srgbClr val="0B1026">
                    <a:alpha val="0"/>
                  </a:srgbClr>
                </a:gs>
              </a:gsLst>
              <a:lin ang="16200000"/>
            </a:gradFill>
            <a:ln cap="sq">
              <a:noFill/>
              <a:prstDash val="solid"/>
              <a:miter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6350000" cy="13754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952500" y="1714500"/>
            <a:ext cx="1047750" cy="76200"/>
            <a:chOff x="0" y="0"/>
            <a:chExt cx="1397000" cy="1016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397000" cy="101600"/>
            </a:xfrm>
            <a:custGeom>
              <a:avLst/>
              <a:gdLst/>
              <a:ahLst/>
              <a:cxnLst/>
              <a:rect r="r" b="b" t="t" l="l"/>
              <a:pathLst>
                <a:path h="101600" w="1397000">
                  <a:moveTo>
                    <a:pt x="0" y="0"/>
                  </a:moveTo>
                  <a:lnTo>
                    <a:pt x="1397000" y="0"/>
                  </a:lnTo>
                  <a:lnTo>
                    <a:pt x="1397000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rgbClr val="27C2E8"/>
            </a:solidFill>
            <a:ln cap="sq">
              <a:noFill/>
              <a:prstDash val="solid"/>
              <a:miter/>
            </a:ln>
          </p:spPr>
        </p:sp>
        <p:sp>
          <p:nvSpPr>
            <p:cNvPr name="TextBox 8" id="8"/>
            <p:cNvSpPr txBox="true"/>
            <p:nvPr/>
          </p:nvSpPr>
          <p:spPr>
            <a:xfrm>
              <a:off x="0" y="-38100"/>
              <a:ext cx="1397000" cy="139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9" id="9"/>
          <p:cNvSpPr txBox="true"/>
          <p:nvPr/>
        </p:nvSpPr>
        <p:spPr>
          <a:xfrm rot="0">
            <a:off x="952500" y="838200"/>
            <a:ext cx="9334500" cy="2819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spc="66" b="true">
                <a:solidFill>
                  <a:srgbClr val="27C2E8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ĐẠI HỌC CẦN THƠ  •  TRƯỜNG CNTT &amp; TT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952500" y="2019300"/>
            <a:ext cx="10096500" cy="15994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01"/>
              </a:lnSpc>
            </a:pPr>
            <a:r>
              <a:rPr lang="en-US" sz="5850" b="true">
                <a:solidFill>
                  <a:srgbClr val="FFFFFF"/>
                </a:solidFill>
                <a:latin typeface="Be Vietnam Ultra-Bold"/>
                <a:ea typeface="Be Vietnam Ultra-Bold"/>
                <a:cs typeface="Be Vietnam Ultra-Bold"/>
                <a:sym typeface="Be Vietnam Ultra-Bold"/>
              </a:rPr>
              <a:t>Báo cáo Thực hành</a:t>
            </a:r>
          </a:p>
          <a:p>
            <a:pPr algn="l">
              <a:lnSpc>
                <a:spcPts val="6201"/>
              </a:lnSpc>
            </a:pPr>
            <a:r>
              <a:rPr lang="en-US" sz="5850" b="true">
                <a:solidFill>
                  <a:srgbClr val="FFFFFF"/>
                </a:solidFill>
                <a:latin typeface="Be Vietnam Ultra-Bold"/>
                <a:ea typeface="Be Vietnam Ultra-Bold"/>
                <a:cs typeface="Be Vietnam Ultra-Bold"/>
                <a:sym typeface="Be Vietnam Ultra-Bold"/>
              </a:rPr>
              <a:t>Kỹ năng số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952500" y="4086225"/>
            <a:ext cx="8858250" cy="8867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850" b="true">
                <a:solidFill>
                  <a:srgbClr val="CBD5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Lịch sử và phân tích so sánh</a:t>
            </a:r>
          </a:p>
          <a:p>
            <a:pPr algn="l">
              <a:lnSpc>
                <a:spcPts val="3562"/>
              </a:lnSpc>
            </a:pPr>
            <a:r>
              <a:rPr lang="en-US" sz="2850" b="true">
                <a:solidFill>
                  <a:srgbClr val="CBD5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Discord, Slack và Microsoft Teams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719802" y="7558252"/>
            <a:ext cx="9090948" cy="10217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26"/>
              </a:lnSpc>
            </a:pPr>
            <a:r>
              <a:rPr lang="en-US" sz="3947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Minh Quang  và Quang Nhật</a:t>
            </a:r>
          </a:p>
          <a:p>
            <a:pPr algn="l">
              <a:lnSpc>
                <a:spcPts val="2586"/>
              </a:lnSpc>
            </a:pPr>
            <a:r>
              <a:rPr lang="en-US" sz="1847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52500" y="723900"/>
            <a:ext cx="14287500" cy="5996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98"/>
              </a:lnSpc>
            </a:pPr>
            <a:r>
              <a:rPr lang="en-US" sz="4350" b="true">
                <a:solidFill>
                  <a:srgbClr val="151A35"/>
                </a:solidFill>
                <a:latin typeface="Be Vietnam Ultra-Bold"/>
                <a:ea typeface="Be Vietnam Ultra-Bold"/>
                <a:cs typeface="Be Vietnam Ultra-Bold"/>
                <a:sym typeface="Be Vietnam Ultra-Bold"/>
              </a:rPr>
              <a:t>Bối cảnh và mục tiêu phân tích</a:t>
            </a:r>
          </a:p>
        </p:txBody>
      </p:sp>
      <p:sp>
        <p:nvSpPr>
          <p:cNvPr name="Freeform 3" id="3"/>
          <p:cNvSpPr/>
          <p:nvPr/>
        </p:nvSpPr>
        <p:spPr>
          <a:xfrm flipH="false" flipV="false" rot="0">
            <a:off x="9906000" y="2238375"/>
            <a:ext cx="7429500" cy="6572250"/>
          </a:xfrm>
          <a:custGeom>
            <a:avLst/>
            <a:gdLst/>
            <a:ahLst/>
            <a:cxnLst/>
            <a:rect r="r" b="b" t="t" l="l"/>
            <a:pathLst>
              <a:path h="6572250" w="7429500">
                <a:moveTo>
                  <a:pt x="0" y="0"/>
                </a:moveTo>
                <a:lnTo>
                  <a:pt x="7429500" y="0"/>
                </a:lnTo>
                <a:lnTo>
                  <a:pt x="7429500" y="6572250"/>
                </a:lnTo>
                <a:lnTo>
                  <a:pt x="0" y="657225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48" t="0" r="-48" b="0"/>
            </a:stretch>
          </a:blipFill>
          <a:ln cap="sq">
            <a:noFill/>
            <a:prstDash val="solid"/>
            <a:miter/>
          </a:ln>
        </p:spPr>
      </p:sp>
      <p:sp>
        <p:nvSpPr>
          <p:cNvPr name="TextBox 4" id="4"/>
          <p:cNvSpPr txBox="true"/>
          <p:nvPr/>
        </p:nvSpPr>
        <p:spPr>
          <a:xfrm rot="0">
            <a:off x="952500" y="2438400"/>
            <a:ext cx="7524750" cy="1542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71"/>
              </a:lnSpc>
            </a:pPr>
            <a:r>
              <a:rPr lang="en-US" sz="3450" b="true">
                <a:solidFill>
                  <a:srgbClr val="151A35"/>
                </a:solidFill>
                <a:latin typeface="Be Vietnam Ultra-Bold"/>
                <a:ea typeface="Be Vietnam Ultra-Bold"/>
                <a:cs typeface="Be Vietnam Ultra-Bold"/>
                <a:sym typeface="Be Vietnam Ultra-Bold"/>
              </a:rPr>
              <a:t>Giao tiếp số đã trở thành hạ tầng của công việc, học tập và cộng đồng.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952500" y="5867400"/>
            <a:ext cx="2476500" cy="2819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spc="66" b="true">
                <a:solidFill>
                  <a:srgbClr val="7C5C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MỤC TIÊU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52500" y="6381750"/>
            <a:ext cx="7239000" cy="7010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35"/>
              </a:lnSpc>
            </a:pPr>
            <a:r>
              <a:rPr lang="en-US" sz="2025">
                <a:solidFill>
                  <a:srgbClr val="151A35"/>
                </a:solidFill>
                <a:latin typeface="Open Sans"/>
                <a:ea typeface="Open Sans"/>
                <a:cs typeface="Open Sans"/>
                <a:sym typeface="Open Sans"/>
              </a:rPr>
              <a:t>Đối chiếu lịch sử phát triển, tính năng cốt lõi và bối cảnh ứng dụng thực tế của ba nền tảng.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>
  <p:cSld>
    <p:bg>
      <p:bgPr>
        <a:solidFill>
          <a:srgbClr val="F7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52500" y="723900"/>
            <a:ext cx="14287500" cy="5996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98"/>
              </a:lnSpc>
            </a:pPr>
            <a:r>
              <a:rPr lang="en-US" sz="4350" b="true">
                <a:solidFill>
                  <a:srgbClr val="151A35"/>
                </a:solidFill>
                <a:latin typeface="Be Vietnam Ultra-Bold"/>
                <a:ea typeface="Be Vietnam Ultra-Bold"/>
                <a:cs typeface="Be Vietnam Ultra-Bold"/>
                <a:sym typeface="Be Vietnam Ultra-Bold"/>
              </a:rPr>
              <a:t>Ba nền tảng — ba điểm xuất phát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952500" y="2381250"/>
            <a:ext cx="4762500" cy="5334000"/>
            <a:chOff x="0" y="0"/>
            <a:chExt cx="6350000" cy="7112000"/>
          </a:xfrm>
        </p:grpSpPr>
        <p:grpSp>
          <p:nvGrpSpPr>
            <p:cNvPr name="Group 4" id="4"/>
            <p:cNvGrpSpPr/>
            <p:nvPr/>
          </p:nvGrpSpPr>
          <p:grpSpPr>
            <a:xfrm rot="0">
              <a:off x="0" y="0"/>
              <a:ext cx="6350000" cy="7112000"/>
              <a:chOff x="0" y="0"/>
              <a:chExt cx="6350000" cy="7112000"/>
            </a:xfrm>
          </p:grpSpPr>
          <p:sp>
            <p:nvSpPr>
              <p:cNvPr name="Freeform 5" id="5"/>
              <p:cNvSpPr/>
              <p:nvPr/>
            </p:nvSpPr>
            <p:spPr>
              <a:xfrm flipH="false" flipV="false" rot="0">
                <a:off x="0" y="0"/>
                <a:ext cx="6350000" cy="7112000"/>
              </a:xfrm>
              <a:custGeom>
                <a:avLst/>
                <a:gdLst/>
                <a:ahLst/>
                <a:cxnLst/>
                <a:rect r="r" b="b" t="t" l="l"/>
                <a:pathLst>
                  <a:path h="7112000" w="6350000">
                    <a:moveTo>
                      <a:pt x="0" y="0"/>
                    </a:moveTo>
                    <a:lnTo>
                      <a:pt x="6350000" y="0"/>
                    </a:lnTo>
                    <a:lnTo>
                      <a:pt x="6350000" y="7112000"/>
                    </a:lnTo>
                    <a:lnTo>
                      <a:pt x="0" y="7112000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D9DEF2"/>
                </a:solidFill>
                <a:prstDash val="solid"/>
                <a:miter/>
              </a:ln>
            </p:spPr>
          </p:sp>
          <p:sp>
            <p:nvSpPr>
              <p:cNvPr name="TextBox 6" id="6"/>
              <p:cNvSpPr txBox="true"/>
              <p:nvPr/>
            </p:nvSpPr>
            <p:spPr>
              <a:xfrm>
                <a:off x="0" y="-38100"/>
                <a:ext cx="6350000" cy="71501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sp>
          <p:nvSpPr>
            <p:cNvPr name="TextBox 7" id="7"/>
            <p:cNvSpPr txBox="true"/>
            <p:nvPr/>
          </p:nvSpPr>
          <p:spPr>
            <a:xfrm rot="0">
              <a:off x="0" y="511175"/>
              <a:ext cx="1651000" cy="134302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8400"/>
                </a:lnSpc>
              </a:pPr>
              <a:r>
                <a:rPr lang="en-US" sz="6000" b="true">
                  <a:solidFill>
                    <a:srgbClr val="D9468D"/>
                  </a:solidFill>
                  <a:latin typeface="Be Vietnam Ultra-Bold"/>
                  <a:ea typeface="Be Vietnam Ultra-Bold"/>
                  <a:cs typeface="Be Vietnam Ultra-Bold"/>
                  <a:sym typeface="Be Vietnam Ultra-Bold"/>
                </a:rPr>
                <a:t>S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2746375"/>
              <a:ext cx="6223000" cy="59118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779"/>
                </a:lnSpc>
              </a:pPr>
              <a:r>
                <a:rPr lang="en-US" sz="2700" b="true">
                  <a:solidFill>
                    <a:srgbClr val="151A35"/>
                  </a:solidFill>
                  <a:latin typeface="Be Vietnam Ultra-Bold"/>
                  <a:ea typeface="Be Vietnam Ultra-Bold"/>
                  <a:cs typeface="Be Vietnam Ultra-Bold"/>
                  <a:sym typeface="Be Vietnam Ultra-Bold"/>
                </a:rPr>
                <a:t>SLACK</a:t>
              </a:r>
            </a:p>
          </p:txBody>
        </p:sp>
        <p:sp>
          <p:nvSpPr>
            <p:cNvPr name="TextBox 9" id="9"/>
            <p:cNvSpPr txBox="true"/>
            <p:nvPr/>
          </p:nvSpPr>
          <p:spPr>
            <a:xfrm rot="0">
              <a:off x="0" y="3616325"/>
              <a:ext cx="6223000" cy="97980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037"/>
                </a:lnSpc>
              </a:pPr>
              <a:r>
                <a:rPr lang="en-US" sz="2025">
                  <a:solidFill>
                    <a:srgbClr val="151A35"/>
                  </a:solidFill>
                  <a:latin typeface="Open Sans"/>
                  <a:ea typeface="Open Sans"/>
                  <a:cs typeface="Open Sans"/>
                  <a:sym typeface="Open Sans"/>
                </a:rPr>
                <a:t>Doanh nghiệp</a:t>
              </a:r>
            </a:p>
            <a:p>
              <a:pPr algn="l">
                <a:lnSpc>
                  <a:spcPts val="3037"/>
                </a:lnSpc>
              </a:pPr>
              <a:r>
                <a:rPr lang="en-US" sz="2025">
                  <a:solidFill>
                    <a:srgbClr val="151A35"/>
                  </a:solidFill>
                  <a:latin typeface="Open Sans"/>
                  <a:ea typeface="Open Sans"/>
                  <a:cs typeface="Open Sans"/>
                  <a:sym typeface="Open Sans"/>
                </a:rPr>
                <a:t>Tích hợp quy trình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477000" y="2381250"/>
            <a:ext cx="4762500" cy="5334000"/>
            <a:chOff x="0" y="0"/>
            <a:chExt cx="6350000" cy="7112000"/>
          </a:xfrm>
        </p:grpSpPr>
        <p:grpSp>
          <p:nvGrpSpPr>
            <p:cNvPr name="Group 11" id="11"/>
            <p:cNvGrpSpPr/>
            <p:nvPr/>
          </p:nvGrpSpPr>
          <p:grpSpPr>
            <a:xfrm rot="0">
              <a:off x="0" y="0"/>
              <a:ext cx="6350000" cy="7112000"/>
              <a:chOff x="0" y="0"/>
              <a:chExt cx="6350000" cy="7112000"/>
            </a:xfrm>
          </p:grpSpPr>
          <p:sp>
            <p:nvSpPr>
              <p:cNvPr name="Freeform 12" id="12"/>
              <p:cNvSpPr/>
              <p:nvPr/>
            </p:nvSpPr>
            <p:spPr>
              <a:xfrm flipH="false" flipV="false" rot="0">
                <a:off x="0" y="0"/>
                <a:ext cx="6350000" cy="7112000"/>
              </a:xfrm>
              <a:custGeom>
                <a:avLst/>
                <a:gdLst/>
                <a:ahLst/>
                <a:cxnLst/>
                <a:rect r="r" b="b" t="t" l="l"/>
                <a:pathLst>
                  <a:path h="7112000" w="6350000">
                    <a:moveTo>
                      <a:pt x="0" y="0"/>
                    </a:moveTo>
                    <a:lnTo>
                      <a:pt x="6350000" y="0"/>
                    </a:lnTo>
                    <a:lnTo>
                      <a:pt x="6350000" y="7112000"/>
                    </a:lnTo>
                    <a:lnTo>
                      <a:pt x="0" y="7112000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D9DEF2"/>
                </a:solidFill>
                <a:prstDash val="solid"/>
                <a:miter/>
              </a:ln>
            </p:spPr>
          </p:sp>
          <p:sp>
            <p:nvSpPr>
              <p:cNvPr name="TextBox 13" id="13"/>
              <p:cNvSpPr txBox="true"/>
              <p:nvPr/>
            </p:nvSpPr>
            <p:spPr>
              <a:xfrm>
                <a:off x="0" y="-38100"/>
                <a:ext cx="6350000" cy="71501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sp>
          <p:nvSpPr>
            <p:cNvPr name="TextBox 14" id="14"/>
            <p:cNvSpPr txBox="true"/>
            <p:nvPr/>
          </p:nvSpPr>
          <p:spPr>
            <a:xfrm rot="0">
              <a:off x="0" y="511175"/>
              <a:ext cx="1651000" cy="134302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8400"/>
                </a:lnSpc>
              </a:pPr>
              <a:r>
                <a:rPr lang="en-US" sz="6000" b="true">
                  <a:solidFill>
                    <a:srgbClr val="6857E5"/>
                  </a:solidFill>
                  <a:latin typeface="Be Vietnam Ultra-Bold"/>
                  <a:ea typeface="Be Vietnam Ultra-Bold"/>
                  <a:cs typeface="Be Vietnam Ultra-Bold"/>
                  <a:sym typeface="Be Vietnam Ultra-Bold"/>
                </a:rPr>
                <a:t>D</a:t>
              </a:r>
            </a:p>
          </p:txBody>
        </p:sp>
        <p:sp>
          <p:nvSpPr>
            <p:cNvPr name="TextBox 15" id="15"/>
            <p:cNvSpPr txBox="true"/>
            <p:nvPr/>
          </p:nvSpPr>
          <p:spPr>
            <a:xfrm rot="0">
              <a:off x="0" y="2746375"/>
              <a:ext cx="6223000" cy="59118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779"/>
                </a:lnSpc>
              </a:pPr>
              <a:r>
                <a:rPr lang="en-US" sz="2700" b="true">
                  <a:solidFill>
                    <a:srgbClr val="151A35"/>
                  </a:solidFill>
                  <a:latin typeface="Be Vietnam Ultra-Bold"/>
                  <a:ea typeface="Be Vietnam Ultra-Bold"/>
                  <a:cs typeface="Be Vietnam Ultra-Bold"/>
                  <a:sym typeface="Be Vietnam Ultra-Bold"/>
                </a:rPr>
                <a:t>DISCORD</a:t>
              </a:r>
            </a:p>
          </p:txBody>
        </p:sp>
        <p:sp>
          <p:nvSpPr>
            <p:cNvPr name="TextBox 16" id="16"/>
            <p:cNvSpPr txBox="true"/>
            <p:nvPr/>
          </p:nvSpPr>
          <p:spPr>
            <a:xfrm rot="0">
              <a:off x="0" y="3616325"/>
              <a:ext cx="6223000" cy="97980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037"/>
                </a:lnSpc>
              </a:pPr>
              <a:r>
                <a:rPr lang="en-US" sz="2025">
                  <a:solidFill>
                    <a:srgbClr val="151A35"/>
                  </a:solidFill>
                  <a:latin typeface="Open Sans"/>
                  <a:ea typeface="Open Sans"/>
                  <a:cs typeface="Open Sans"/>
                  <a:sym typeface="Open Sans"/>
                </a:rPr>
                <a:t>Cộng đồng</a:t>
              </a:r>
            </a:p>
            <a:p>
              <a:pPr algn="l">
                <a:lnSpc>
                  <a:spcPts val="3037"/>
                </a:lnSpc>
              </a:pPr>
              <a:r>
                <a:rPr lang="en-US" sz="2025">
                  <a:solidFill>
                    <a:srgbClr val="151A35"/>
                  </a:solidFill>
                  <a:latin typeface="Open Sans"/>
                  <a:ea typeface="Open Sans"/>
                  <a:cs typeface="Open Sans"/>
                  <a:sym typeface="Open Sans"/>
                </a:rPr>
                <a:t>Thoại, chat, server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2001500" y="2381250"/>
            <a:ext cx="4762500" cy="5334000"/>
            <a:chOff x="0" y="0"/>
            <a:chExt cx="6350000" cy="7112000"/>
          </a:xfrm>
        </p:grpSpPr>
        <p:grpSp>
          <p:nvGrpSpPr>
            <p:cNvPr name="Group 18" id="18"/>
            <p:cNvGrpSpPr/>
            <p:nvPr/>
          </p:nvGrpSpPr>
          <p:grpSpPr>
            <a:xfrm rot="0">
              <a:off x="0" y="0"/>
              <a:ext cx="6350000" cy="7112000"/>
              <a:chOff x="0" y="0"/>
              <a:chExt cx="6350000" cy="7112000"/>
            </a:xfrm>
          </p:grpSpPr>
          <p:sp>
            <p:nvSpPr>
              <p:cNvPr name="Freeform 19" id="19"/>
              <p:cNvSpPr/>
              <p:nvPr/>
            </p:nvSpPr>
            <p:spPr>
              <a:xfrm flipH="false" flipV="false" rot="0">
                <a:off x="0" y="0"/>
                <a:ext cx="6350000" cy="7112000"/>
              </a:xfrm>
              <a:custGeom>
                <a:avLst/>
                <a:gdLst/>
                <a:ahLst/>
                <a:cxnLst/>
                <a:rect r="r" b="b" t="t" l="l"/>
                <a:pathLst>
                  <a:path h="7112000" w="6350000">
                    <a:moveTo>
                      <a:pt x="0" y="0"/>
                    </a:moveTo>
                    <a:lnTo>
                      <a:pt x="6350000" y="0"/>
                    </a:lnTo>
                    <a:lnTo>
                      <a:pt x="6350000" y="7112000"/>
                    </a:lnTo>
                    <a:lnTo>
                      <a:pt x="0" y="7112000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D9DEF2"/>
                </a:solidFill>
                <a:prstDash val="solid"/>
                <a:miter/>
              </a:ln>
            </p:spPr>
          </p:sp>
          <p:sp>
            <p:nvSpPr>
              <p:cNvPr name="TextBox 20" id="20"/>
              <p:cNvSpPr txBox="true"/>
              <p:nvPr/>
            </p:nvSpPr>
            <p:spPr>
              <a:xfrm>
                <a:off x="0" y="-38100"/>
                <a:ext cx="6350000" cy="71501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sp>
          <p:nvSpPr>
            <p:cNvPr name="TextBox 21" id="21"/>
            <p:cNvSpPr txBox="true"/>
            <p:nvPr/>
          </p:nvSpPr>
          <p:spPr>
            <a:xfrm rot="0">
              <a:off x="0" y="511175"/>
              <a:ext cx="1651000" cy="134302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8400"/>
                </a:lnSpc>
              </a:pPr>
              <a:r>
                <a:rPr lang="en-US" sz="6000" b="true">
                  <a:solidFill>
                    <a:srgbClr val="4F7DF3"/>
                  </a:solidFill>
                  <a:latin typeface="Be Vietnam Ultra-Bold"/>
                  <a:ea typeface="Be Vietnam Ultra-Bold"/>
                  <a:cs typeface="Be Vietnam Ultra-Bold"/>
                  <a:sym typeface="Be Vietnam Ultra-Bold"/>
                </a:rPr>
                <a:t>T</a:t>
              </a:r>
            </a:p>
          </p:txBody>
        </p:sp>
        <p:sp>
          <p:nvSpPr>
            <p:cNvPr name="TextBox 22" id="22"/>
            <p:cNvSpPr txBox="true"/>
            <p:nvPr/>
          </p:nvSpPr>
          <p:spPr>
            <a:xfrm rot="0">
              <a:off x="0" y="2746375"/>
              <a:ext cx="6223000" cy="59118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779"/>
                </a:lnSpc>
              </a:pPr>
              <a:r>
                <a:rPr lang="en-US" sz="2700" b="true">
                  <a:solidFill>
                    <a:srgbClr val="151A35"/>
                  </a:solidFill>
                  <a:latin typeface="Be Vietnam Ultra-Bold"/>
                  <a:ea typeface="Be Vietnam Ultra-Bold"/>
                  <a:cs typeface="Be Vietnam Ultra-Bold"/>
                  <a:sym typeface="Be Vietnam Ultra-Bold"/>
                </a:rPr>
                <a:t>TEAMS</a:t>
              </a:r>
            </a:p>
          </p:txBody>
        </p:sp>
        <p:sp>
          <p:nvSpPr>
            <p:cNvPr name="TextBox 23" id="23"/>
            <p:cNvSpPr txBox="true"/>
            <p:nvPr/>
          </p:nvSpPr>
          <p:spPr>
            <a:xfrm rot="0">
              <a:off x="0" y="3616325"/>
              <a:ext cx="6223000" cy="97980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037"/>
                </a:lnSpc>
              </a:pPr>
              <a:r>
                <a:rPr lang="en-US" sz="2025">
                  <a:solidFill>
                    <a:srgbClr val="151A35"/>
                  </a:solidFill>
                  <a:latin typeface="Open Sans"/>
                  <a:ea typeface="Open Sans"/>
                  <a:cs typeface="Open Sans"/>
                  <a:sym typeface="Open Sans"/>
                </a:rPr>
                <a:t>Tổ chức lớn</a:t>
              </a:r>
            </a:p>
            <a:p>
              <a:pPr algn="l">
                <a:lnSpc>
                  <a:spcPts val="3037"/>
                </a:lnSpc>
              </a:pPr>
              <a:r>
                <a:rPr lang="en-US" sz="2025">
                  <a:solidFill>
                    <a:srgbClr val="151A35"/>
                  </a:solidFill>
                  <a:latin typeface="Open Sans"/>
                  <a:ea typeface="Open Sans"/>
                  <a:cs typeface="Open Sans"/>
                  <a:sym typeface="Open Sans"/>
                </a:rPr>
                <a:t>Office &amp; họp trực tuyến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>
  <p:cSld>
    <p:bg>
      <p:bgPr>
        <a:solidFill>
          <a:srgbClr val="0B10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52500" y="723900"/>
            <a:ext cx="14287500" cy="5996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98"/>
              </a:lnSpc>
            </a:pPr>
            <a:r>
              <a:rPr lang="en-US" sz="4350" b="true">
                <a:solidFill>
                  <a:srgbClr val="FFFFFF"/>
                </a:solidFill>
                <a:latin typeface="Be Vietnam Ultra-Bold"/>
                <a:ea typeface="Be Vietnam Ultra-Bold"/>
                <a:cs typeface="Be Vietnam Ultra-Bold"/>
                <a:sym typeface="Be Vietnam Ultra-Bold"/>
              </a:rPr>
              <a:t>Slack bắt đầu từ một trò chơi thất bại</a:t>
            </a:r>
          </a:p>
        </p:txBody>
      </p:sp>
      <p:sp>
        <p:nvSpPr>
          <p:cNvPr name="AutoShape 3" id="3"/>
          <p:cNvSpPr/>
          <p:nvPr/>
        </p:nvSpPr>
        <p:spPr>
          <a:xfrm>
            <a:off x="1714500" y="5810250"/>
            <a:ext cx="14668500" cy="0"/>
          </a:xfrm>
          <a:prstGeom prst="line">
            <a:avLst/>
          </a:prstGeom>
          <a:ln cap="rnd" w="47625">
            <a:solidFill>
              <a:srgbClr val="495071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4" id="4"/>
          <p:cNvGrpSpPr/>
          <p:nvPr/>
        </p:nvGrpSpPr>
        <p:grpSpPr>
          <a:xfrm rot="0">
            <a:off x="2476500" y="5667375"/>
            <a:ext cx="285750" cy="285750"/>
            <a:chOff x="0" y="0"/>
            <a:chExt cx="381000" cy="381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381000" cy="381000"/>
            </a:xfrm>
            <a:custGeom>
              <a:avLst/>
              <a:gdLst/>
              <a:ahLst/>
              <a:cxnLst/>
              <a:rect r="r" b="b" t="t" l="l"/>
              <a:pathLst>
                <a:path h="381000" w="381000">
                  <a:moveTo>
                    <a:pt x="190500" y="0"/>
                  </a:moveTo>
                  <a:cubicBezTo>
                    <a:pt x="295710" y="0"/>
                    <a:pt x="381000" y="85290"/>
                    <a:pt x="381000" y="190500"/>
                  </a:cubicBezTo>
                  <a:cubicBezTo>
                    <a:pt x="381000" y="295710"/>
                    <a:pt x="295710" y="381000"/>
                    <a:pt x="190500" y="381000"/>
                  </a:cubicBezTo>
                  <a:cubicBezTo>
                    <a:pt x="85290" y="381000"/>
                    <a:pt x="0" y="295710"/>
                    <a:pt x="0" y="190500"/>
                  </a:cubicBezTo>
                  <a:cubicBezTo>
                    <a:pt x="0" y="85290"/>
                    <a:pt x="85290" y="0"/>
                    <a:pt x="190500" y="0"/>
                  </a:cubicBezTo>
                  <a:close/>
                </a:path>
              </a:pathLst>
            </a:custGeom>
            <a:solidFill>
              <a:srgbClr val="D9468D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6" id="6"/>
          <p:cNvGrpSpPr/>
          <p:nvPr/>
        </p:nvGrpSpPr>
        <p:grpSpPr>
          <a:xfrm rot="0">
            <a:off x="8096250" y="5667375"/>
            <a:ext cx="285750" cy="285750"/>
            <a:chOff x="0" y="0"/>
            <a:chExt cx="381000" cy="3810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81000" cy="381000"/>
            </a:xfrm>
            <a:custGeom>
              <a:avLst/>
              <a:gdLst/>
              <a:ahLst/>
              <a:cxnLst/>
              <a:rect r="r" b="b" t="t" l="l"/>
              <a:pathLst>
                <a:path h="381000" w="381000">
                  <a:moveTo>
                    <a:pt x="190500" y="0"/>
                  </a:moveTo>
                  <a:cubicBezTo>
                    <a:pt x="295710" y="0"/>
                    <a:pt x="381000" y="85290"/>
                    <a:pt x="381000" y="190500"/>
                  </a:cubicBezTo>
                  <a:cubicBezTo>
                    <a:pt x="381000" y="295710"/>
                    <a:pt x="295710" y="381000"/>
                    <a:pt x="190500" y="381000"/>
                  </a:cubicBezTo>
                  <a:cubicBezTo>
                    <a:pt x="85290" y="381000"/>
                    <a:pt x="0" y="295710"/>
                    <a:pt x="0" y="190500"/>
                  </a:cubicBezTo>
                  <a:cubicBezTo>
                    <a:pt x="0" y="85290"/>
                    <a:pt x="85290" y="0"/>
                    <a:pt x="190500" y="0"/>
                  </a:cubicBezTo>
                  <a:close/>
                </a:path>
              </a:pathLst>
            </a:custGeom>
            <a:solidFill>
              <a:srgbClr val="D9468D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8" id="8"/>
          <p:cNvGrpSpPr/>
          <p:nvPr/>
        </p:nvGrpSpPr>
        <p:grpSpPr>
          <a:xfrm rot="0">
            <a:off x="13811250" y="5667375"/>
            <a:ext cx="285750" cy="285750"/>
            <a:chOff x="0" y="0"/>
            <a:chExt cx="381000" cy="3810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381000" cy="381000"/>
            </a:xfrm>
            <a:custGeom>
              <a:avLst/>
              <a:gdLst/>
              <a:ahLst/>
              <a:cxnLst/>
              <a:rect r="r" b="b" t="t" l="l"/>
              <a:pathLst>
                <a:path h="381000" w="381000">
                  <a:moveTo>
                    <a:pt x="190500" y="0"/>
                  </a:moveTo>
                  <a:cubicBezTo>
                    <a:pt x="295710" y="0"/>
                    <a:pt x="381000" y="85290"/>
                    <a:pt x="381000" y="190500"/>
                  </a:cubicBezTo>
                  <a:cubicBezTo>
                    <a:pt x="381000" y="295710"/>
                    <a:pt x="295710" y="381000"/>
                    <a:pt x="190500" y="381000"/>
                  </a:cubicBezTo>
                  <a:cubicBezTo>
                    <a:pt x="85290" y="381000"/>
                    <a:pt x="0" y="295710"/>
                    <a:pt x="0" y="190500"/>
                  </a:cubicBezTo>
                  <a:cubicBezTo>
                    <a:pt x="0" y="85290"/>
                    <a:pt x="85290" y="0"/>
                    <a:pt x="190500" y="0"/>
                  </a:cubicBezTo>
                  <a:close/>
                </a:path>
              </a:pathLst>
            </a:custGeom>
            <a:solidFill>
              <a:srgbClr val="D9468D"/>
            </a:solidFill>
            <a:ln cap="sq">
              <a:noFill/>
              <a:prstDash val="solid"/>
              <a:miter/>
            </a:ln>
          </p:spPr>
        </p:sp>
      </p:grpSp>
      <p:sp>
        <p:nvSpPr>
          <p:cNvPr name="TextBox 10" id="10"/>
          <p:cNvSpPr txBox="true"/>
          <p:nvPr/>
        </p:nvSpPr>
        <p:spPr>
          <a:xfrm rot="0">
            <a:off x="1238250" y="4286250"/>
            <a:ext cx="2476500" cy="390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149"/>
              </a:lnSpc>
            </a:pPr>
            <a:r>
              <a:rPr lang="en-US" sz="2250" b="true">
                <a:solidFill>
                  <a:srgbClr val="FFFFFF"/>
                </a:solidFill>
                <a:latin typeface="Be Vietnam Ultra-Bold"/>
                <a:ea typeface="Be Vietnam Ultra-Bold"/>
                <a:cs typeface="Be Vietnam Ultra-Bold"/>
                <a:sym typeface="Be Vietnam Ultra-Bold"/>
              </a:rPr>
              <a:t>2009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762000" y="6353175"/>
            <a:ext cx="3429000" cy="2971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sz="18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Tiny Speck phát triển Glitch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6858000" y="4286250"/>
            <a:ext cx="2476500" cy="390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149"/>
              </a:lnSpc>
            </a:pPr>
            <a:r>
              <a:rPr lang="en-US" sz="2250" b="true">
                <a:solidFill>
                  <a:srgbClr val="FFFFFF"/>
                </a:solidFill>
                <a:latin typeface="Be Vietnam Ultra-Bold"/>
                <a:ea typeface="Be Vietnam Ultra-Bold"/>
                <a:cs typeface="Be Vietnam Ultra-Bold"/>
                <a:sym typeface="Be Vietnam Ultra-Bold"/>
              </a:rPr>
              <a:t>BƯỚC NGOẶT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6381750" y="6353175"/>
            <a:ext cx="3429000" cy="6115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sz="18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Công cụ chat nội bộ dựa trên IRC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2573000" y="4286250"/>
            <a:ext cx="2476500" cy="390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149"/>
              </a:lnSpc>
            </a:pPr>
            <a:r>
              <a:rPr lang="en-US" sz="2250" b="true">
                <a:solidFill>
                  <a:srgbClr val="FFFFFF"/>
                </a:solidFill>
                <a:latin typeface="Be Vietnam Ultra-Bold"/>
                <a:ea typeface="Be Vietnam Ultra-Bold"/>
                <a:cs typeface="Be Vietnam Ultra-Bold"/>
                <a:sym typeface="Be Vietnam Ultra-Bold"/>
              </a:rPr>
              <a:t>2013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2096750" y="6353175"/>
            <a:ext cx="3429000" cy="2971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sz="18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Slack chính thức ra mắt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52500" y="723900"/>
            <a:ext cx="14287500" cy="5996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98"/>
              </a:lnSpc>
            </a:pPr>
            <a:r>
              <a:rPr lang="en-US" sz="4350" b="true">
                <a:solidFill>
                  <a:srgbClr val="151A35"/>
                </a:solidFill>
                <a:latin typeface="Be Vietnam Ultra-Bold"/>
                <a:ea typeface="Be Vietnam Ultra-Bold"/>
                <a:cs typeface="Be Vietnam Ultra-Bold"/>
                <a:sym typeface="Be Vietnam Ultra-Bold"/>
              </a:rPr>
              <a:t>Từ công cụ nội bộ đến thương vụ 27,7 tỷ USD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0">
            <a:off x="-25678" y="1561948"/>
            <a:ext cx="11957606" cy="80203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2001500" y="2752725"/>
            <a:ext cx="4476750" cy="904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350"/>
              </a:lnSpc>
            </a:pPr>
            <a:r>
              <a:rPr lang="en-US" sz="5250" b="true">
                <a:solidFill>
                  <a:srgbClr val="D9468D"/>
                </a:solidFill>
                <a:latin typeface="Be Vietnam Ultra-Bold"/>
                <a:ea typeface="Be Vietnam Ultra-Bold"/>
                <a:cs typeface="Be Vietnam Ultra-Bold"/>
                <a:sym typeface="Be Vietnam Ultra-Bold"/>
              </a:rPr>
              <a:t>2019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2001500" y="3667125"/>
            <a:ext cx="4476750" cy="3486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35"/>
              </a:lnSpc>
            </a:pPr>
            <a:r>
              <a:rPr lang="en-US" sz="2025">
                <a:solidFill>
                  <a:srgbClr val="151A35"/>
                </a:solidFill>
                <a:latin typeface="Open Sans"/>
                <a:ea typeface="Open Sans"/>
                <a:cs typeface="Open Sans"/>
                <a:sym typeface="Open Sans"/>
              </a:rPr>
              <a:t>Niêm yết trực tiếp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2001500" y="5514975"/>
            <a:ext cx="4476750" cy="904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350"/>
              </a:lnSpc>
            </a:pPr>
            <a:r>
              <a:rPr lang="en-US" sz="5250" b="true">
                <a:solidFill>
                  <a:srgbClr val="7C5CFF"/>
                </a:solidFill>
                <a:latin typeface="Be Vietnam Ultra-Bold"/>
                <a:ea typeface="Be Vietnam Ultra-Bold"/>
                <a:cs typeface="Be Vietnam Ultra-Bold"/>
                <a:sym typeface="Be Vietnam Ultra-Bold"/>
              </a:rPr>
              <a:t>2020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2001500" y="6448425"/>
            <a:ext cx="4762500" cy="7610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22"/>
              </a:lnSpc>
            </a:pPr>
            <a:r>
              <a:rPr lang="en-US" sz="2325" b="true">
                <a:solidFill>
                  <a:srgbClr val="151A35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Salesforce mua lại</a:t>
            </a:r>
          </a:p>
          <a:p>
            <a:pPr algn="l">
              <a:lnSpc>
                <a:spcPts val="3022"/>
              </a:lnSpc>
            </a:pPr>
            <a:r>
              <a:rPr lang="en-US" sz="2325" b="true">
                <a:solidFill>
                  <a:srgbClr val="151A35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27,7 tỷ USD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>
  <p:cSld>
    <p:bg>
      <p:bgPr>
        <a:solidFill>
          <a:srgbClr val="F7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52500" y="723900"/>
            <a:ext cx="14287500" cy="5996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98"/>
              </a:lnSpc>
            </a:pPr>
            <a:r>
              <a:rPr lang="en-US" sz="4350" b="true">
                <a:solidFill>
                  <a:srgbClr val="151A35"/>
                </a:solidFill>
                <a:latin typeface="Be Vietnam Ultra-Bold"/>
                <a:ea typeface="Be Vietnam Ultra-Bold"/>
                <a:cs typeface="Be Vietnam Ultra-Bold"/>
                <a:sym typeface="Be Vietnam Ultra-Bold"/>
              </a:rPr>
              <a:t>Slack chuẩn hóa không gian làm việc số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11144250" y="2667000"/>
            <a:ext cx="4953000" cy="1000125"/>
            <a:chOff x="0" y="0"/>
            <a:chExt cx="6604000" cy="13335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6604000" cy="1333500"/>
            </a:xfrm>
            <a:custGeom>
              <a:avLst/>
              <a:gdLst/>
              <a:ahLst/>
              <a:cxnLst/>
              <a:rect r="r" b="b" t="t" l="l"/>
              <a:pathLst>
                <a:path h="1333500" w="6604000">
                  <a:moveTo>
                    <a:pt x="43962" y="0"/>
                  </a:moveTo>
                  <a:lnTo>
                    <a:pt x="6560038" y="0"/>
                  </a:lnTo>
                  <a:cubicBezTo>
                    <a:pt x="6571698" y="0"/>
                    <a:pt x="6582880" y="4632"/>
                    <a:pt x="6591124" y="12876"/>
                  </a:cubicBezTo>
                  <a:cubicBezTo>
                    <a:pt x="6599368" y="21120"/>
                    <a:pt x="6604000" y="32302"/>
                    <a:pt x="6604000" y="43962"/>
                  </a:cubicBezTo>
                  <a:lnTo>
                    <a:pt x="6604000" y="1289538"/>
                  </a:lnTo>
                  <a:cubicBezTo>
                    <a:pt x="6604000" y="1301198"/>
                    <a:pt x="6599368" y="1312380"/>
                    <a:pt x="6591124" y="1320624"/>
                  </a:cubicBezTo>
                  <a:cubicBezTo>
                    <a:pt x="6582880" y="1328868"/>
                    <a:pt x="6571698" y="1333500"/>
                    <a:pt x="6560038" y="1333500"/>
                  </a:cubicBezTo>
                  <a:lnTo>
                    <a:pt x="43962" y="1333500"/>
                  </a:lnTo>
                  <a:cubicBezTo>
                    <a:pt x="32302" y="1333500"/>
                    <a:pt x="21120" y="1328868"/>
                    <a:pt x="12876" y="1320624"/>
                  </a:cubicBezTo>
                  <a:cubicBezTo>
                    <a:pt x="4632" y="1312380"/>
                    <a:pt x="0" y="1301198"/>
                    <a:pt x="0" y="1289538"/>
                  </a:cubicBezTo>
                  <a:lnTo>
                    <a:pt x="0" y="43962"/>
                  </a:lnTo>
                  <a:cubicBezTo>
                    <a:pt x="0" y="32302"/>
                    <a:pt x="4632" y="21120"/>
                    <a:pt x="12876" y="12876"/>
                  </a:cubicBezTo>
                  <a:cubicBezTo>
                    <a:pt x="21120" y="4632"/>
                    <a:pt x="32302" y="0"/>
                    <a:pt x="43962" y="0"/>
                  </a:cubicBezTo>
                  <a:close/>
                </a:path>
              </a:pathLst>
            </a:custGeom>
            <a:solidFill>
              <a:srgbClr val="D9468D"/>
            </a:solidFill>
            <a:ln cap="sq">
              <a:noFill/>
              <a:prstDash val="solid"/>
              <a:miter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19050"/>
              <a:ext cx="6604000" cy="13144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070"/>
                </a:lnSpc>
              </a:pPr>
              <a:r>
                <a:rPr lang="en-US" sz="1800" b="true">
                  <a:solidFill>
                    <a:srgbClr val="FFFFFF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KÊNH</a:t>
              </a: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1144250" y="4048125"/>
            <a:ext cx="4953000" cy="1000125"/>
            <a:chOff x="0" y="0"/>
            <a:chExt cx="6604000" cy="13335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6604000" cy="1333500"/>
            </a:xfrm>
            <a:custGeom>
              <a:avLst/>
              <a:gdLst/>
              <a:ahLst/>
              <a:cxnLst/>
              <a:rect r="r" b="b" t="t" l="l"/>
              <a:pathLst>
                <a:path h="1333500" w="6604000">
                  <a:moveTo>
                    <a:pt x="43962" y="0"/>
                  </a:moveTo>
                  <a:lnTo>
                    <a:pt x="6560038" y="0"/>
                  </a:lnTo>
                  <a:cubicBezTo>
                    <a:pt x="6571698" y="0"/>
                    <a:pt x="6582880" y="4632"/>
                    <a:pt x="6591124" y="12876"/>
                  </a:cubicBezTo>
                  <a:cubicBezTo>
                    <a:pt x="6599368" y="21120"/>
                    <a:pt x="6604000" y="32302"/>
                    <a:pt x="6604000" y="43962"/>
                  </a:cubicBezTo>
                  <a:lnTo>
                    <a:pt x="6604000" y="1289538"/>
                  </a:lnTo>
                  <a:cubicBezTo>
                    <a:pt x="6604000" y="1301198"/>
                    <a:pt x="6599368" y="1312380"/>
                    <a:pt x="6591124" y="1320624"/>
                  </a:cubicBezTo>
                  <a:cubicBezTo>
                    <a:pt x="6582880" y="1328868"/>
                    <a:pt x="6571698" y="1333500"/>
                    <a:pt x="6560038" y="1333500"/>
                  </a:cubicBezTo>
                  <a:lnTo>
                    <a:pt x="43962" y="1333500"/>
                  </a:lnTo>
                  <a:cubicBezTo>
                    <a:pt x="32302" y="1333500"/>
                    <a:pt x="21120" y="1328868"/>
                    <a:pt x="12876" y="1320624"/>
                  </a:cubicBezTo>
                  <a:cubicBezTo>
                    <a:pt x="4632" y="1312380"/>
                    <a:pt x="0" y="1301198"/>
                    <a:pt x="0" y="1289538"/>
                  </a:cubicBezTo>
                  <a:lnTo>
                    <a:pt x="0" y="43962"/>
                  </a:lnTo>
                  <a:cubicBezTo>
                    <a:pt x="0" y="32302"/>
                    <a:pt x="4632" y="21120"/>
                    <a:pt x="12876" y="12876"/>
                  </a:cubicBezTo>
                  <a:cubicBezTo>
                    <a:pt x="21120" y="4632"/>
                    <a:pt x="32302" y="0"/>
                    <a:pt x="43962" y="0"/>
                  </a:cubicBezTo>
                  <a:close/>
                </a:path>
              </a:pathLst>
            </a:custGeom>
            <a:solidFill>
              <a:srgbClr val="7C5CFF"/>
            </a:solidFill>
            <a:ln cap="sq">
              <a:noFill/>
              <a:prstDash val="solid"/>
              <a:miter/>
            </a:ln>
          </p:spPr>
        </p:sp>
        <p:sp>
          <p:nvSpPr>
            <p:cNvPr name="TextBox 8" id="8"/>
            <p:cNvSpPr txBox="true"/>
            <p:nvPr/>
          </p:nvSpPr>
          <p:spPr>
            <a:xfrm>
              <a:off x="0" y="19050"/>
              <a:ext cx="6604000" cy="13144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070"/>
                </a:lnSpc>
              </a:pPr>
              <a:r>
                <a:rPr lang="en-US" sz="1800" b="true">
                  <a:solidFill>
                    <a:srgbClr val="FFFFFF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TÍCH HỢP APP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1144250" y="5429250"/>
            <a:ext cx="4953000" cy="1000125"/>
            <a:chOff x="0" y="0"/>
            <a:chExt cx="6604000" cy="13335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6604000" cy="1333500"/>
            </a:xfrm>
            <a:custGeom>
              <a:avLst/>
              <a:gdLst/>
              <a:ahLst/>
              <a:cxnLst/>
              <a:rect r="r" b="b" t="t" l="l"/>
              <a:pathLst>
                <a:path h="1333500" w="6604000">
                  <a:moveTo>
                    <a:pt x="43962" y="0"/>
                  </a:moveTo>
                  <a:lnTo>
                    <a:pt x="6560038" y="0"/>
                  </a:lnTo>
                  <a:cubicBezTo>
                    <a:pt x="6571698" y="0"/>
                    <a:pt x="6582880" y="4632"/>
                    <a:pt x="6591124" y="12876"/>
                  </a:cubicBezTo>
                  <a:cubicBezTo>
                    <a:pt x="6599368" y="21120"/>
                    <a:pt x="6604000" y="32302"/>
                    <a:pt x="6604000" y="43962"/>
                  </a:cubicBezTo>
                  <a:lnTo>
                    <a:pt x="6604000" y="1289538"/>
                  </a:lnTo>
                  <a:cubicBezTo>
                    <a:pt x="6604000" y="1301198"/>
                    <a:pt x="6599368" y="1312380"/>
                    <a:pt x="6591124" y="1320624"/>
                  </a:cubicBezTo>
                  <a:cubicBezTo>
                    <a:pt x="6582880" y="1328868"/>
                    <a:pt x="6571698" y="1333500"/>
                    <a:pt x="6560038" y="1333500"/>
                  </a:cubicBezTo>
                  <a:lnTo>
                    <a:pt x="43962" y="1333500"/>
                  </a:lnTo>
                  <a:cubicBezTo>
                    <a:pt x="32302" y="1333500"/>
                    <a:pt x="21120" y="1328868"/>
                    <a:pt x="12876" y="1320624"/>
                  </a:cubicBezTo>
                  <a:cubicBezTo>
                    <a:pt x="4632" y="1312380"/>
                    <a:pt x="0" y="1301198"/>
                    <a:pt x="0" y="1289538"/>
                  </a:cubicBezTo>
                  <a:lnTo>
                    <a:pt x="0" y="43962"/>
                  </a:lnTo>
                  <a:cubicBezTo>
                    <a:pt x="0" y="32302"/>
                    <a:pt x="4632" y="21120"/>
                    <a:pt x="12876" y="12876"/>
                  </a:cubicBezTo>
                  <a:cubicBezTo>
                    <a:pt x="21120" y="4632"/>
                    <a:pt x="32302" y="0"/>
                    <a:pt x="43962" y="0"/>
                  </a:cubicBezTo>
                  <a:close/>
                </a:path>
              </a:pathLst>
            </a:custGeom>
            <a:solidFill>
              <a:srgbClr val="3B82F6"/>
            </a:solidFill>
            <a:ln cap="sq">
              <a:noFill/>
              <a:prstDash val="solid"/>
              <a:miter/>
            </a:ln>
          </p:spPr>
        </p:sp>
        <p:sp>
          <p:nvSpPr>
            <p:cNvPr name="TextBox 11" id="11"/>
            <p:cNvSpPr txBox="true"/>
            <p:nvPr/>
          </p:nvSpPr>
          <p:spPr>
            <a:xfrm>
              <a:off x="0" y="19050"/>
              <a:ext cx="6604000" cy="13144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070"/>
                </a:lnSpc>
              </a:pPr>
              <a:r>
                <a:rPr lang="en-US" sz="1800" b="true">
                  <a:solidFill>
                    <a:srgbClr val="FFFFFF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TỆP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11144250" y="6810375"/>
            <a:ext cx="4953000" cy="1000125"/>
            <a:chOff x="0" y="0"/>
            <a:chExt cx="6604000" cy="13335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6604000" cy="1333500"/>
            </a:xfrm>
            <a:custGeom>
              <a:avLst/>
              <a:gdLst/>
              <a:ahLst/>
              <a:cxnLst/>
              <a:rect r="r" b="b" t="t" l="l"/>
              <a:pathLst>
                <a:path h="1333500" w="6604000">
                  <a:moveTo>
                    <a:pt x="43962" y="0"/>
                  </a:moveTo>
                  <a:lnTo>
                    <a:pt x="6560038" y="0"/>
                  </a:lnTo>
                  <a:cubicBezTo>
                    <a:pt x="6571698" y="0"/>
                    <a:pt x="6582880" y="4632"/>
                    <a:pt x="6591124" y="12876"/>
                  </a:cubicBezTo>
                  <a:cubicBezTo>
                    <a:pt x="6599368" y="21120"/>
                    <a:pt x="6604000" y="32302"/>
                    <a:pt x="6604000" y="43962"/>
                  </a:cubicBezTo>
                  <a:lnTo>
                    <a:pt x="6604000" y="1289538"/>
                  </a:lnTo>
                  <a:cubicBezTo>
                    <a:pt x="6604000" y="1301198"/>
                    <a:pt x="6599368" y="1312380"/>
                    <a:pt x="6591124" y="1320624"/>
                  </a:cubicBezTo>
                  <a:cubicBezTo>
                    <a:pt x="6582880" y="1328868"/>
                    <a:pt x="6571698" y="1333500"/>
                    <a:pt x="6560038" y="1333500"/>
                  </a:cubicBezTo>
                  <a:lnTo>
                    <a:pt x="43962" y="1333500"/>
                  </a:lnTo>
                  <a:cubicBezTo>
                    <a:pt x="32302" y="1333500"/>
                    <a:pt x="21120" y="1328868"/>
                    <a:pt x="12876" y="1320624"/>
                  </a:cubicBezTo>
                  <a:cubicBezTo>
                    <a:pt x="4632" y="1312380"/>
                    <a:pt x="0" y="1301198"/>
                    <a:pt x="0" y="1289538"/>
                  </a:cubicBezTo>
                  <a:lnTo>
                    <a:pt x="0" y="43962"/>
                  </a:lnTo>
                  <a:cubicBezTo>
                    <a:pt x="0" y="32302"/>
                    <a:pt x="4632" y="21120"/>
                    <a:pt x="12876" y="12876"/>
                  </a:cubicBezTo>
                  <a:cubicBezTo>
                    <a:pt x="21120" y="4632"/>
                    <a:pt x="32302" y="0"/>
                    <a:pt x="43962" y="0"/>
                  </a:cubicBezTo>
                  <a:close/>
                </a:path>
              </a:pathLst>
            </a:custGeom>
            <a:solidFill>
              <a:srgbClr val="27C2E8"/>
            </a:solidFill>
            <a:ln cap="sq">
              <a:noFill/>
              <a:prstDash val="solid"/>
              <a:miter/>
            </a:ln>
          </p:spPr>
        </p:sp>
        <p:sp>
          <p:nvSpPr>
            <p:cNvPr name="TextBox 14" id="14"/>
            <p:cNvSpPr txBox="true"/>
            <p:nvPr/>
          </p:nvSpPr>
          <p:spPr>
            <a:xfrm>
              <a:off x="0" y="19050"/>
              <a:ext cx="6604000" cy="13144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070"/>
                </a:lnSpc>
              </a:pPr>
              <a:r>
                <a:rPr lang="en-US" sz="1800" b="true">
                  <a:solidFill>
                    <a:srgbClr val="FFFFFF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TÌM KIẾM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B10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52500" y="723900"/>
            <a:ext cx="14287500" cy="5996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98"/>
              </a:lnSpc>
            </a:pPr>
            <a:r>
              <a:rPr lang="en-US" sz="4350" b="true">
                <a:solidFill>
                  <a:srgbClr val="FFFFFF"/>
                </a:solidFill>
                <a:latin typeface="Be Vietnam Ultra-Bold"/>
                <a:ea typeface="Be Vietnam Ultra-Bold"/>
                <a:cs typeface="Be Vietnam Ultra-Bold"/>
                <a:sym typeface="Be Vietnam Ultra-Bold"/>
              </a:rPr>
              <a:t>Discord: xây cộng đồng từ nhu cầu của game thủ</a:t>
            </a:r>
          </a:p>
        </p:txBody>
      </p:sp>
      <p:sp>
        <p:nvSpPr>
          <p:cNvPr name="Freeform 3" id="3"/>
          <p:cNvSpPr/>
          <p:nvPr/>
        </p:nvSpPr>
        <p:spPr>
          <a:xfrm flipH="false" flipV="false" rot="0">
            <a:off x="10287000" y="2095500"/>
            <a:ext cx="6858000" cy="6667500"/>
          </a:xfrm>
          <a:custGeom>
            <a:avLst/>
            <a:gdLst/>
            <a:ahLst/>
            <a:cxnLst/>
            <a:rect r="r" b="b" t="t" l="l"/>
            <a:pathLst>
              <a:path h="6667500" w="6858000">
                <a:moveTo>
                  <a:pt x="0" y="0"/>
                </a:moveTo>
                <a:lnTo>
                  <a:pt x="6858000" y="0"/>
                </a:lnTo>
                <a:lnTo>
                  <a:pt x="6858000" y="6667500"/>
                </a:lnTo>
                <a:lnTo>
                  <a:pt x="0" y="66675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4" r="0" b="-14"/>
            </a:stretch>
          </a:blipFill>
          <a:ln cap="sq">
            <a:noFill/>
            <a:prstDash val="solid"/>
            <a:miter/>
          </a:ln>
        </p:spPr>
      </p:sp>
      <p:sp>
        <p:nvSpPr>
          <p:cNvPr name="TextBox 4" id="4"/>
          <p:cNvSpPr txBox="true"/>
          <p:nvPr/>
        </p:nvSpPr>
        <p:spPr>
          <a:xfrm rot="0">
            <a:off x="952500" y="2162175"/>
            <a:ext cx="4762500" cy="1933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750"/>
              </a:lnSpc>
            </a:pPr>
            <a:r>
              <a:rPr lang="en-US" sz="11250" b="true">
                <a:solidFill>
                  <a:srgbClr val="6857E5"/>
                </a:solidFill>
                <a:latin typeface="Be Vietnam Ultra-Bold"/>
                <a:ea typeface="Be Vietnam Ultra-Bold"/>
                <a:cs typeface="Be Vietnam Ultra-Bold"/>
                <a:sym typeface="Be Vietnam Ultra-Bold"/>
              </a:rPr>
              <a:t>2015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952500" y="4410075"/>
            <a:ext cx="6191250" cy="523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0"/>
              </a:lnSpc>
            </a:pPr>
            <a:r>
              <a:rPr lang="en-US" sz="3000" b="true">
                <a:solidFill>
                  <a:srgbClr val="FFFFFF"/>
                </a:solidFill>
                <a:latin typeface="Be Vietnam Ultra-Bold"/>
                <a:ea typeface="Be Vietnam Ultra-Bold"/>
                <a:cs typeface="Be Vietnam Ultra-Bold"/>
                <a:sym typeface="Be Vietnam Ultra-Bold"/>
              </a:rPr>
              <a:t>Hammer &amp; Chisel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52500" y="5191125"/>
            <a:ext cx="7810500" cy="10534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35"/>
              </a:lnSpc>
            </a:pPr>
            <a:r>
              <a:rPr lang="en-US" sz="2025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Sau Fates Forever không thành công, Jason Citron và Stanislav Vishnevskiy tập trung vào một trải nghiệm thoại &amp; chat mượt hơn cho cộng đồng game.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52500" y="723900"/>
            <a:ext cx="14287500" cy="5996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98"/>
              </a:lnSpc>
            </a:pPr>
            <a:r>
              <a:rPr lang="en-US" sz="4350" b="true">
                <a:solidFill>
                  <a:srgbClr val="151A35"/>
                </a:solidFill>
                <a:latin typeface="Be Vietnam Ultra-Bold"/>
                <a:ea typeface="Be Vietnam Ultra-Bold"/>
                <a:cs typeface="Be Vietnam Ultra-Bold"/>
                <a:sym typeface="Be Vietnam Ultra-Bold"/>
              </a:rPr>
              <a:t>2020: từ game thủ đến mọi cộng đồng</a:t>
            </a:r>
          </a:p>
        </p:txBody>
      </p:sp>
      <p:sp>
        <p:nvSpPr>
          <p:cNvPr name="Freeform 3" id="3"/>
          <p:cNvSpPr/>
          <p:nvPr/>
        </p:nvSpPr>
        <p:spPr>
          <a:xfrm flipH="false" flipV="false" rot="0">
            <a:off x="8286750" y="2190750"/>
            <a:ext cx="9048750" cy="6858000"/>
          </a:xfrm>
          <a:custGeom>
            <a:avLst/>
            <a:gdLst/>
            <a:ahLst/>
            <a:cxnLst/>
            <a:rect r="r" b="b" t="t" l="l"/>
            <a:pathLst>
              <a:path h="6858000" w="9048750">
                <a:moveTo>
                  <a:pt x="0" y="0"/>
                </a:moveTo>
                <a:lnTo>
                  <a:pt x="9048750" y="0"/>
                </a:lnTo>
                <a:lnTo>
                  <a:pt x="904875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26" t="0" r="-26" b="0"/>
            </a:stretch>
          </a:blipFill>
          <a:ln cap="sq">
            <a:noFill/>
            <a:prstDash val="solid"/>
            <a:miter/>
          </a:ln>
        </p:spPr>
      </p:sp>
      <p:sp>
        <p:nvSpPr>
          <p:cNvPr name="TextBox 4" id="4"/>
          <p:cNvSpPr txBox="true"/>
          <p:nvPr/>
        </p:nvSpPr>
        <p:spPr>
          <a:xfrm rot="0">
            <a:off x="952500" y="2876550"/>
            <a:ext cx="6191250" cy="9083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28"/>
              </a:lnSpc>
            </a:pPr>
            <a:r>
              <a:rPr lang="en-US" sz="3150" b="true">
                <a:solidFill>
                  <a:srgbClr val="151A35"/>
                </a:solidFill>
                <a:latin typeface="Be Vietnam Ultra-Bold"/>
                <a:ea typeface="Be Vietnam Ultra-Bold"/>
                <a:cs typeface="Be Vietnam Ultra-Bold"/>
                <a:sym typeface="Be Vietnam Ultra-Bold"/>
              </a:rPr>
              <a:t>“Nơi để trò chuyện”</a:t>
            </a:r>
          </a:p>
          <a:p>
            <a:pPr algn="l">
              <a:lnSpc>
                <a:spcPts val="3528"/>
              </a:lnSpc>
            </a:pPr>
            <a:r>
              <a:rPr lang="en-US" sz="3150" b="true">
                <a:solidFill>
                  <a:srgbClr val="151A35"/>
                </a:solidFill>
                <a:latin typeface="Be Vietnam Ultra-Bold"/>
                <a:ea typeface="Be Vietnam Ultra-Bold"/>
                <a:cs typeface="Be Vietnam Ultra-Bold"/>
                <a:sym typeface="Be Vietnam Ultra-Bold"/>
              </a:rPr>
              <a:t>không còn giới hạn trong game.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952500" y="6143625"/>
            <a:ext cx="6000750" cy="10534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35"/>
              </a:lnSpc>
            </a:pPr>
            <a:r>
              <a:rPr lang="en-US" sz="2025">
                <a:solidFill>
                  <a:srgbClr val="151A35"/>
                </a:solidFill>
                <a:latin typeface="Open Sans"/>
                <a:ea typeface="Open Sans"/>
                <a:cs typeface="Open Sans"/>
                <a:sym typeface="Open Sans"/>
              </a:rPr>
              <a:t>Nhiều vòng gọi vốn tạo đà tăng trưởng; định vị mới mở rộng đối tượng nhưng vẫn giữ cấu trúc server và kênh làm lõi.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52500" y="723900"/>
            <a:ext cx="14287500" cy="5996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98"/>
              </a:lnSpc>
            </a:pPr>
            <a:r>
              <a:rPr lang="en-US" sz="4350" b="true">
                <a:solidFill>
                  <a:srgbClr val="151A35"/>
                </a:solidFill>
                <a:latin typeface="Be Vietnam Ultra-Bold"/>
                <a:ea typeface="Be Vietnam Ultra-Bold"/>
                <a:cs typeface="Be Vietnam Ultra-Bold"/>
                <a:sym typeface="Be Vietnam Ultra-Bold"/>
              </a:rPr>
              <a:t>Một hệ sinh thái sống theo thời gian thực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952500" y="2667000"/>
            <a:ext cx="6477000" cy="4057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b="true">
                <a:solidFill>
                  <a:srgbClr val="151A35"/>
                </a:solidFill>
                <a:latin typeface="Be Vietnam Ultra-Bold"/>
                <a:ea typeface="Be Vietnam Ultra-Bold"/>
                <a:cs typeface="Be Vietnam Ultra-Bold"/>
                <a:sym typeface="Be Vietnam Ultra-Bold"/>
              </a:rPr>
              <a:t>1  Kênh thoại &amp; chat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952500" y="4048125"/>
            <a:ext cx="6477000" cy="4057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b="true">
                <a:solidFill>
                  <a:srgbClr val="6857E5"/>
                </a:solidFill>
                <a:latin typeface="Be Vietnam Ultra-Bold"/>
                <a:ea typeface="Be Vietnam Ultra-Bold"/>
                <a:cs typeface="Be Vietnam Ultra-Bold"/>
                <a:sym typeface="Be Vietnam Ultra-Bold"/>
              </a:rPr>
              <a:t>2  Bot và tự động hóa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952500" y="5429250"/>
            <a:ext cx="6477000" cy="4057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b="true">
                <a:solidFill>
                  <a:srgbClr val="151A35"/>
                </a:solidFill>
                <a:latin typeface="Be Vietnam Ultra-Bold"/>
                <a:ea typeface="Be Vietnam Ultra-Bold"/>
                <a:cs typeface="Be Vietnam Ultra-Bold"/>
                <a:sym typeface="Be Vietnam Ultra-Bold"/>
              </a:rPr>
              <a:t>3  Chia sẻ đa phương tiện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52500" y="6810375"/>
            <a:ext cx="6477000" cy="4057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b="true">
                <a:solidFill>
                  <a:srgbClr val="6857E5"/>
                </a:solidFill>
                <a:latin typeface="Be Vietnam Ultra-Bold"/>
                <a:ea typeface="Be Vietnam Ultra-Bold"/>
                <a:cs typeface="Be Vietnam Ultra-Bold"/>
                <a:sym typeface="Be Vietnam Ultra-Bold"/>
              </a:rPr>
              <a:t>4  Nitro &amp; server đa dạng</a:t>
            </a:r>
          </a:p>
        </p:txBody>
      </p:sp>
      <p:sp>
        <p:nvSpPr>
          <p:cNvPr name="Freeform 7" id="7"/>
          <p:cNvSpPr/>
          <p:nvPr/>
        </p:nvSpPr>
        <p:spPr>
          <a:xfrm flipH="false" flipV="false" rot="0">
            <a:off x="8572500" y="2381250"/>
            <a:ext cx="8763000" cy="6477000"/>
          </a:xfrm>
          <a:custGeom>
            <a:avLst/>
            <a:gdLst/>
            <a:ahLst/>
            <a:cxnLst/>
            <a:rect r="r" b="b" t="t" l="l"/>
            <a:pathLst>
              <a:path h="6477000" w="8763000">
                <a:moveTo>
                  <a:pt x="0" y="0"/>
                </a:moveTo>
                <a:lnTo>
                  <a:pt x="8763000" y="0"/>
                </a:lnTo>
                <a:lnTo>
                  <a:pt x="8763000" y="6477000"/>
                </a:lnTo>
                <a:lnTo>
                  <a:pt x="0" y="647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25" t="0" r="-25" b="0"/>
            </a:stretch>
          </a:blipFill>
          <a:ln cap="sq">
            <a:noFill/>
            <a:prstDash val="solid"/>
            <a:miter/>
          </a:ln>
        </p:spPr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>
  <p:cSld>
    <p:bg>
      <p:bgPr>
        <a:solidFill>
          <a:srgbClr val="0B10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52500" y="723900"/>
            <a:ext cx="14287500" cy="5996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98"/>
              </a:lnSpc>
            </a:pPr>
            <a:r>
              <a:rPr lang="en-US" sz="4350" b="true">
                <a:solidFill>
                  <a:srgbClr val="FFFFFF"/>
                </a:solidFill>
                <a:latin typeface="Be Vietnam Ultra-Bold"/>
                <a:ea typeface="Be Vietnam Ultra-Bold"/>
                <a:cs typeface="Be Vietnam Ultra-Bold"/>
                <a:sym typeface="Be Vietnam Ultra-Bold"/>
              </a:rPr>
              <a:t>Teams đi vào thị trường bằng sức mạnh tích hợp</a:t>
            </a:r>
          </a:p>
        </p:txBody>
      </p:sp>
      <p:sp>
        <p:nvSpPr>
          <p:cNvPr name="AutoShape 3" id="3"/>
          <p:cNvSpPr/>
          <p:nvPr/>
        </p:nvSpPr>
        <p:spPr>
          <a:xfrm>
            <a:off x="2095500" y="5810250"/>
            <a:ext cx="13906500" cy="0"/>
          </a:xfrm>
          <a:prstGeom prst="line">
            <a:avLst/>
          </a:prstGeom>
          <a:ln cap="rnd" w="47625">
            <a:solidFill>
              <a:srgbClr val="4B5375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4" id="4"/>
          <p:cNvGrpSpPr/>
          <p:nvPr/>
        </p:nvGrpSpPr>
        <p:grpSpPr>
          <a:xfrm rot="0">
            <a:off x="3714750" y="5638800"/>
            <a:ext cx="285750" cy="285750"/>
            <a:chOff x="0" y="0"/>
            <a:chExt cx="381000" cy="381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381000" cy="381000"/>
            </a:xfrm>
            <a:custGeom>
              <a:avLst/>
              <a:gdLst/>
              <a:ahLst/>
              <a:cxnLst/>
              <a:rect r="r" b="b" t="t" l="l"/>
              <a:pathLst>
                <a:path h="381000" w="381000">
                  <a:moveTo>
                    <a:pt x="190500" y="0"/>
                  </a:moveTo>
                  <a:cubicBezTo>
                    <a:pt x="295710" y="0"/>
                    <a:pt x="381000" y="85290"/>
                    <a:pt x="381000" y="190500"/>
                  </a:cubicBezTo>
                  <a:cubicBezTo>
                    <a:pt x="381000" y="295710"/>
                    <a:pt x="295710" y="381000"/>
                    <a:pt x="190500" y="381000"/>
                  </a:cubicBezTo>
                  <a:cubicBezTo>
                    <a:pt x="85290" y="381000"/>
                    <a:pt x="0" y="295710"/>
                    <a:pt x="0" y="190500"/>
                  </a:cubicBezTo>
                  <a:cubicBezTo>
                    <a:pt x="0" y="85290"/>
                    <a:pt x="85290" y="0"/>
                    <a:pt x="190500" y="0"/>
                  </a:cubicBezTo>
                  <a:close/>
                </a:path>
              </a:pathLst>
            </a:custGeom>
            <a:solidFill>
              <a:srgbClr val="4F7DF3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6" id="6"/>
          <p:cNvGrpSpPr/>
          <p:nvPr/>
        </p:nvGrpSpPr>
        <p:grpSpPr>
          <a:xfrm rot="0">
            <a:off x="10001250" y="5638800"/>
            <a:ext cx="285750" cy="285750"/>
            <a:chOff x="0" y="0"/>
            <a:chExt cx="381000" cy="3810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81000" cy="381000"/>
            </a:xfrm>
            <a:custGeom>
              <a:avLst/>
              <a:gdLst/>
              <a:ahLst/>
              <a:cxnLst/>
              <a:rect r="r" b="b" t="t" l="l"/>
              <a:pathLst>
                <a:path h="381000" w="381000">
                  <a:moveTo>
                    <a:pt x="190500" y="0"/>
                  </a:moveTo>
                  <a:cubicBezTo>
                    <a:pt x="295710" y="0"/>
                    <a:pt x="381000" y="85290"/>
                    <a:pt x="381000" y="190500"/>
                  </a:cubicBezTo>
                  <a:cubicBezTo>
                    <a:pt x="381000" y="295710"/>
                    <a:pt x="295710" y="381000"/>
                    <a:pt x="190500" y="381000"/>
                  </a:cubicBezTo>
                  <a:cubicBezTo>
                    <a:pt x="85290" y="381000"/>
                    <a:pt x="0" y="295710"/>
                    <a:pt x="0" y="190500"/>
                  </a:cubicBezTo>
                  <a:cubicBezTo>
                    <a:pt x="0" y="85290"/>
                    <a:pt x="85290" y="0"/>
                    <a:pt x="190500" y="0"/>
                  </a:cubicBezTo>
                  <a:close/>
                </a:path>
              </a:pathLst>
            </a:custGeom>
            <a:solidFill>
              <a:srgbClr val="27C2E8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8" id="8"/>
          <p:cNvGrpSpPr/>
          <p:nvPr/>
        </p:nvGrpSpPr>
        <p:grpSpPr>
          <a:xfrm rot="0">
            <a:off x="15049500" y="5638800"/>
            <a:ext cx="285750" cy="285750"/>
            <a:chOff x="0" y="0"/>
            <a:chExt cx="381000" cy="3810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381000" cy="381000"/>
            </a:xfrm>
            <a:custGeom>
              <a:avLst/>
              <a:gdLst/>
              <a:ahLst/>
              <a:cxnLst/>
              <a:rect r="r" b="b" t="t" l="l"/>
              <a:pathLst>
                <a:path h="381000" w="381000">
                  <a:moveTo>
                    <a:pt x="190500" y="0"/>
                  </a:moveTo>
                  <a:cubicBezTo>
                    <a:pt x="295710" y="0"/>
                    <a:pt x="381000" y="85290"/>
                    <a:pt x="381000" y="190500"/>
                  </a:cubicBezTo>
                  <a:cubicBezTo>
                    <a:pt x="381000" y="295710"/>
                    <a:pt x="295710" y="381000"/>
                    <a:pt x="190500" y="381000"/>
                  </a:cubicBezTo>
                  <a:cubicBezTo>
                    <a:pt x="85290" y="381000"/>
                    <a:pt x="0" y="295710"/>
                    <a:pt x="0" y="190500"/>
                  </a:cubicBezTo>
                  <a:cubicBezTo>
                    <a:pt x="0" y="85290"/>
                    <a:pt x="85290" y="0"/>
                    <a:pt x="190500" y="0"/>
                  </a:cubicBezTo>
                  <a:close/>
                </a:path>
              </a:pathLst>
            </a:custGeom>
            <a:solidFill>
              <a:srgbClr val="7C5CFF"/>
            </a:solidFill>
            <a:ln cap="sq">
              <a:noFill/>
              <a:prstDash val="solid"/>
              <a:miter/>
            </a:ln>
          </p:spPr>
        </p:sp>
      </p:grpSp>
      <p:sp>
        <p:nvSpPr>
          <p:cNvPr name="TextBox 10" id="10"/>
          <p:cNvSpPr txBox="true"/>
          <p:nvPr/>
        </p:nvSpPr>
        <p:spPr>
          <a:xfrm rot="0">
            <a:off x="2190750" y="3228975"/>
            <a:ext cx="3048000" cy="904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350"/>
              </a:lnSpc>
            </a:pPr>
            <a:r>
              <a:rPr lang="en-US" sz="5250" b="true">
                <a:solidFill>
                  <a:srgbClr val="FFFFFF"/>
                </a:solidFill>
                <a:latin typeface="Be Vietnam Ultra-Bold"/>
                <a:ea typeface="Be Vietnam Ultra-Bold"/>
                <a:cs typeface="Be Vietnam Ultra-Bold"/>
                <a:sym typeface="Be Vietnam Ultra-Bold"/>
              </a:rPr>
              <a:t>2016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2190750" y="6381750"/>
            <a:ext cx="3048000" cy="3486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35"/>
              </a:lnSpc>
            </a:pPr>
            <a:r>
              <a:rPr lang="en-US" sz="2025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Công bố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8191500" y="3228975"/>
            <a:ext cx="3619500" cy="904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350"/>
              </a:lnSpc>
            </a:pPr>
            <a:r>
              <a:rPr lang="en-US" sz="5250" b="true">
                <a:solidFill>
                  <a:srgbClr val="FFFFFF"/>
                </a:solidFill>
                <a:latin typeface="Be Vietnam Ultra-Bold"/>
                <a:ea typeface="Be Vietnam Ultra-Bold"/>
                <a:cs typeface="Be Vietnam Ultra-Bold"/>
                <a:sym typeface="Be Vietnam Ultra-Bold"/>
              </a:rPr>
              <a:t>14/3/2017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8096250" y="6381750"/>
            <a:ext cx="3810000" cy="3486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35"/>
              </a:lnSpc>
            </a:pPr>
            <a:r>
              <a:rPr lang="en-US" sz="2025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Ra mắt toàn cầu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3620750" y="3409950"/>
            <a:ext cx="2857500" cy="5391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409"/>
              </a:lnSpc>
            </a:pPr>
            <a:r>
              <a:rPr lang="en-US" sz="3150" b="true">
                <a:solidFill>
                  <a:srgbClr val="27C2E8"/>
                </a:solidFill>
                <a:latin typeface="Be Vietnam Ultra-Bold"/>
                <a:ea typeface="Be Vietnam Ultra-Bold"/>
                <a:cs typeface="Be Vietnam Ultra-Bold"/>
                <a:sym typeface="Be Vietnam Ultra-Bold"/>
              </a:rPr>
              <a:t>OFFICE 365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3525500" y="6381750"/>
            <a:ext cx="3048000" cy="3486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35"/>
              </a:lnSpc>
            </a:pPr>
            <a:r>
              <a:rPr lang="en-US" sz="2025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Tích hợp sâu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>
  <p:cSld>
    <p:bg>
      <p:bgPr>
        <a:solidFill>
          <a:srgbClr val="F7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52500" y="723900"/>
            <a:ext cx="14287500" cy="5996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98"/>
              </a:lnSpc>
            </a:pPr>
            <a:r>
              <a:rPr lang="en-US" sz="4350" b="true">
                <a:solidFill>
                  <a:srgbClr val="151A35"/>
                </a:solidFill>
                <a:latin typeface="Be Vietnam Ultra-Bold"/>
                <a:ea typeface="Be Vietnam Ultra-Bold"/>
                <a:cs typeface="Be Vietnam Ultra-Bold"/>
                <a:sym typeface="Be Vietnam Ultra-Bold"/>
              </a:rPr>
              <a:t>Cạnh tranh trực tiếp — mở rộng sang giáo dục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9334500" y="2190750"/>
            <a:ext cx="28575" cy="4762500"/>
            <a:chOff x="0" y="0"/>
            <a:chExt cx="38100" cy="6350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8100" cy="6350000"/>
            </a:xfrm>
            <a:custGeom>
              <a:avLst/>
              <a:gdLst/>
              <a:ahLst/>
              <a:cxnLst/>
              <a:rect r="r" b="b" t="t" l="l"/>
              <a:pathLst>
                <a:path h="6350000" w="38100">
                  <a:moveTo>
                    <a:pt x="0" y="0"/>
                  </a:moveTo>
                  <a:lnTo>
                    <a:pt x="38100" y="0"/>
                  </a:lnTo>
                  <a:lnTo>
                    <a:pt x="38100" y="6350000"/>
                  </a:lnTo>
                  <a:lnTo>
                    <a:pt x="0" y="6350000"/>
                  </a:lnTo>
                  <a:close/>
                </a:path>
              </a:pathLst>
            </a:custGeom>
            <a:solidFill>
              <a:srgbClr val="D9DEF2"/>
            </a:solidFill>
            <a:ln cap="sq">
              <a:noFill/>
              <a:prstDash val="solid"/>
              <a:miter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38100" cy="638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8096250" y="3562350"/>
            <a:ext cx="2095500" cy="1295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500"/>
              </a:lnSpc>
            </a:pPr>
            <a:r>
              <a:rPr lang="en-US" sz="7500" b="true">
                <a:solidFill>
                  <a:srgbClr val="7C5CFF"/>
                </a:solidFill>
                <a:latin typeface="Be Vietnam Ultra-Bold"/>
                <a:ea typeface="Be Vietnam Ultra-Bold"/>
                <a:cs typeface="Be Vietnam Ultra-Bold"/>
                <a:sym typeface="Be Vietnam Ultra-Bold"/>
              </a:rPr>
              <a:t>VS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619250" y="2752725"/>
            <a:ext cx="5238750" cy="9201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559"/>
              </a:lnSpc>
            </a:pPr>
            <a:r>
              <a:rPr lang="en-US" sz="5400" b="true">
                <a:solidFill>
                  <a:srgbClr val="D9468D"/>
                </a:solidFill>
                <a:latin typeface="Be Vietnam Ultra-Bold"/>
                <a:ea typeface="Be Vietnam Ultra-Bold"/>
                <a:cs typeface="Be Vietnam Ultra-Bold"/>
                <a:sym typeface="Be Vietnam Ultra-Bold"/>
              </a:rPr>
              <a:t>SLACK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619250" y="4429125"/>
            <a:ext cx="5238750" cy="7010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35"/>
              </a:lnSpc>
            </a:pPr>
            <a:r>
              <a:rPr lang="en-US" sz="2025">
                <a:solidFill>
                  <a:srgbClr val="151A35"/>
                </a:solidFill>
                <a:latin typeface="Open Sans"/>
                <a:ea typeface="Open Sans"/>
                <a:cs typeface="Open Sans"/>
                <a:sym typeface="Open Sans"/>
              </a:rPr>
              <a:t>Hệ sinh thái tích hợp mở</a:t>
            </a:r>
          </a:p>
          <a:p>
            <a:pPr algn="ctr">
              <a:lnSpc>
                <a:spcPts val="2835"/>
              </a:lnSpc>
            </a:pPr>
            <a:r>
              <a:rPr lang="en-US" sz="2025">
                <a:solidFill>
                  <a:srgbClr val="151A35"/>
                </a:solidFill>
                <a:latin typeface="Open Sans"/>
                <a:ea typeface="Open Sans"/>
                <a:cs typeface="Open Sans"/>
                <a:sym typeface="Open Sans"/>
              </a:rPr>
              <a:t>Trải nghiệm chat ưu tiên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1430000" y="2752725"/>
            <a:ext cx="5238750" cy="9201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559"/>
              </a:lnSpc>
            </a:pPr>
            <a:r>
              <a:rPr lang="en-US" sz="5400" b="true">
                <a:solidFill>
                  <a:srgbClr val="4F7DF3"/>
                </a:solidFill>
                <a:latin typeface="Be Vietnam Ultra-Bold"/>
                <a:ea typeface="Be Vietnam Ultra-Bold"/>
                <a:cs typeface="Be Vietnam Ultra-Bold"/>
                <a:sym typeface="Be Vietnam Ultra-Bold"/>
              </a:rPr>
              <a:t>TEAMS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1430000" y="4429125"/>
            <a:ext cx="5238750" cy="7010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35"/>
              </a:lnSpc>
            </a:pPr>
            <a:r>
              <a:rPr lang="en-US" sz="2025">
                <a:solidFill>
                  <a:srgbClr val="151A35"/>
                </a:solidFill>
                <a:latin typeface="Open Sans"/>
                <a:ea typeface="Open Sans"/>
                <a:cs typeface="Open Sans"/>
                <a:sym typeface="Open Sans"/>
              </a:rPr>
              <a:t>Office, họp và quản trị</a:t>
            </a:r>
          </a:p>
          <a:p>
            <a:pPr algn="ctr">
              <a:lnSpc>
                <a:spcPts val="2835"/>
              </a:lnSpc>
            </a:pPr>
            <a:r>
              <a:rPr lang="en-US" sz="2025">
                <a:solidFill>
                  <a:srgbClr val="151A35"/>
                </a:solidFill>
                <a:latin typeface="Open Sans"/>
                <a:ea typeface="Open Sans"/>
                <a:cs typeface="Open Sans"/>
                <a:sym typeface="Open Sans"/>
              </a:rPr>
              <a:t>Dần thay Microsoft Classroom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3714750" y="7572375"/>
            <a:ext cx="10858500" cy="4305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569"/>
              </a:lnSpc>
            </a:pPr>
            <a:r>
              <a:rPr lang="en-US" sz="2550" b="true">
                <a:solidFill>
                  <a:srgbClr val="151A35"/>
                </a:solidFill>
                <a:latin typeface="Be Vietnam Ultra-Bold"/>
                <a:ea typeface="Be Vietnam Ultra-Bold"/>
                <a:cs typeface="Be Vietnam Ultra-Bold"/>
                <a:sym typeface="Be Vietnam Ultra-Bold"/>
              </a:rPr>
              <a:t>Giáo dục trở thành một lợi thế phân phối quan trọng.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>
  <p:cSld>
    <p:bg>
      <p:bgPr>
        <a:solidFill>
          <a:srgbClr val="F7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52500" y="723900"/>
            <a:ext cx="14287500" cy="5996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98"/>
              </a:lnSpc>
            </a:pPr>
            <a:r>
              <a:rPr lang="en-US" sz="4350" b="true">
                <a:solidFill>
                  <a:srgbClr val="151A35"/>
                </a:solidFill>
                <a:latin typeface="Be Vietnam Ultra-Bold"/>
                <a:ea typeface="Be Vietnam Ultra-Bold"/>
                <a:cs typeface="Be Vietnam Ultra-Bold"/>
                <a:sym typeface="Be Vietnam Ultra-Bold"/>
              </a:rPr>
              <a:t>Từ Skype for Business đến Microsoft Teams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1428750" y="3238500"/>
            <a:ext cx="4762500" cy="2000250"/>
            <a:chOff x="0" y="0"/>
            <a:chExt cx="6350000" cy="2667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6350000" cy="2667000"/>
            </a:xfrm>
            <a:custGeom>
              <a:avLst/>
              <a:gdLst/>
              <a:ahLst/>
              <a:cxnLst/>
              <a:rect r="r" b="b" t="t" l="l"/>
              <a:pathLst>
                <a:path h="2667000" w="6350000">
                  <a:moveTo>
                    <a:pt x="45720" y="0"/>
                  </a:moveTo>
                  <a:lnTo>
                    <a:pt x="6304280" y="0"/>
                  </a:lnTo>
                  <a:cubicBezTo>
                    <a:pt x="6316406" y="0"/>
                    <a:pt x="6328035" y="4817"/>
                    <a:pt x="6336609" y="13391"/>
                  </a:cubicBezTo>
                  <a:cubicBezTo>
                    <a:pt x="6345183" y="21965"/>
                    <a:pt x="6350000" y="33594"/>
                    <a:pt x="6350000" y="45720"/>
                  </a:cubicBezTo>
                  <a:lnTo>
                    <a:pt x="6350000" y="2621280"/>
                  </a:lnTo>
                  <a:cubicBezTo>
                    <a:pt x="6350000" y="2646531"/>
                    <a:pt x="6329530" y="2667000"/>
                    <a:pt x="6304280" y="2667000"/>
                  </a:cubicBezTo>
                  <a:lnTo>
                    <a:pt x="45720" y="2667000"/>
                  </a:lnTo>
                  <a:cubicBezTo>
                    <a:pt x="20470" y="2667000"/>
                    <a:pt x="0" y="2646531"/>
                    <a:pt x="0" y="2621280"/>
                  </a:cubicBezTo>
                  <a:lnTo>
                    <a:pt x="0" y="45720"/>
                  </a:lnTo>
                  <a:cubicBezTo>
                    <a:pt x="0" y="20470"/>
                    <a:pt x="20470" y="0"/>
                    <a:pt x="45720" y="0"/>
                  </a:cubicBezTo>
                  <a:close/>
                </a:path>
              </a:pathLst>
            </a:custGeom>
            <a:solidFill>
              <a:srgbClr val="54A9E8"/>
            </a:solidFill>
            <a:ln cap="sq">
              <a:noFill/>
              <a:prstDash val="solid"/>
              <a:miter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19050"/>
              <a:ext cx="6350000" cy="26479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070"/>
                </a:lnSpc>
              </a:pPr>
              <a:r>
                <a:rPr lang="en-US" sz="1800" b="true">
                  <a:solidFill>
                    <a:srgbClr val="FFFFFF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SKYPE FOR BUSINESS</a:t>
              </a: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2096750" y="3238500"/>
            <a:ext cx="4762500" cy="2000250"/>
            <a:chOff x="0" y="0"/>
            <a:chExt cx="6350000" cy="26670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6350000" cy="2667000"/>
            </a:xfrm>
            <a:custGeom>
              <a:avLst/>
              <a:gdLst/>
              <a:ahLst/>
              <a:cxnLst/>
              <a:rect r="r" b="b" t="t" l="l"/>
              <a:pathLst>
                <a:path h="2667000" w="6350000">
                  <a:moveTo>
                    <a:pt x="45720" y="0"/>
                  </a:moveTo>
                  <a:lnTo>
                    <a:pt x="6304280" y="0"/>
                  </a:lnTo>
                  <a:cubicBezTo>
                    <a:pt x="6316406" y="0"/>
                    <a:pt x="6328035" y="4817"/>
                    <a:pt x="6336609" y="13391"/>
                  </a:cubicBezTo>
                  <a:cubicBezTo>
                    <a:pt x="6345183" y="21965"/>
                    <a:pt x="6350000" y="33594"/>
                    <a:pt x="6350000" y="45720"/>
                  </a:cubicBezTo>
                  <a:lnTo>
                    <a:pt x="6350000" y="2621280"/>
                  </a:lnTo>
                  <a:cubicBezTo>
                    <a:pt x="6350000" y="2646531"/>
                    <a:pt x="6329530" y="2667000"/>
                    <a:pt x="6304280" y="2667000"/>
                  </a:cubicBezTo>
                  <a:lnTo>
                    <a:pt x="45720" y="2667000"/>
                  </a:lnTo>
                  <a:cubicBezTo>
                    <a:pt x="20470" y="2667000"/>
                    <a:pt x="0" y="2646531"/>
                    <a:pt x="0" y="2621280"/>
                  </a:cubicBezTo>
                  <a:lnTo>
                    <a:pt x="0" y="45720"/>
                  </a:lnTo>
                  <a:cubicBezTo>
                    <a:pt x="0" y="20470"/>
                    <a:pt x="20470" y="0"/>
                    <a:pt x="45720" y="0"/>
                  </a:cubicBezTo>
                  <a:close/>
                </a:path>
              </a:pathLst>
            </a:custGeom>
            <a:solidFill>
              <a:srgbClr val="4F7DF3"/>
            </a:solidFill>
            <a:ln cap="sq">
              <a:noFill/>
              <a:prstDash val="solid"/>
              <a:miter/>
            </a:ln>
          </p:spPr>
        </p:sp>
        <p:sp>
          <p:nvSpPr>
            <p:cNvPr name="TextBox 8" id="8"/>
            <p:cNvSpPr txBox="true"/>
            <p:nvPr/>
          </p:nvSpPr>
          <p:spPr>
            <a:xfrm>
              <a:off x="0" y="19050"/>
              <a:ext cx="6350000" cy="26479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070"/>
                </a:lnSpc>
              </a:pPr>
              <a:r>
                <a:rPr lang="en-US" sz="1800" b="true">
                  <a:solidFill>
                    <a:srgbClr val="FFFFFF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MICROSOFT TEAMS</a:t>
              </a:r>
            </a:p>
          </p:txBody>
        </p:sp>
      </p:grpSp>
      <p:sp>
        <p:nvSpPr>
          <p:cNvPr name="AutoShape 9" id="9"/>
          <p:cNvSpPr/>
          <p:nvPr/>
        </p:nvSpPr>
        <p:spPr>
          <a:xfrm>
            <a:off x="6572250" y="4238625"/>
            <a:ext cx="5143500" cy="0"/>
          </a:xfrm>
          <a:prstGeom prst="line">
            <a:avLst/>
          </a:prstGeom>
          <a:ln cap="rnd" w="76200">
            <a:solidFill>
              <a:srgbClr val="7C5CFF"/>
            </a:solidFill>
            <a:prstDash val="solid"/>
            <a:headEnd type="none" len="sm" w="sm"/>
            <a:tailEnd type="arrow" len="sm" w="med"/>
          </a:ln>
        </p:spPr>
      </p:sp>
      <p:sp>
        <p:nvSpPr>
          <p:cNvPr name="TextBox 10" id="10"/>
          <p:cNvSpPr txBox="true"/>
          <p:nvPr/>
        </p:nvSpPr>
        <p:spPr>
          <a:xfrm rot="0">
            <a:off x="7239000" y="3095625"/>
            <a:ext cx="3810000" cy="3486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35"/>
              </a:lnSpc>
            </a:pPr>
            <a:r>
              <a:rPr lang="en-US" sz="2025" b="true">
                <a:solidFill>
                  <a:srgbClr val="7C5C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Chuyển đổi nền tảng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5334000" y="6543675"/>
            <a:ext cx="7620000" cy="12172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080"/>
              </a:lnSpc>
            </a:pPr>
            <a:r>
              <a:rPr lang="en-US" sz="7200" b="true">
                <a:solidFill>
                  <a:srgbClr val="151A35"/>
                </a:solidFill>
                <a:latin typeface="Be Vietnam Ultra-Bold"/>
                <a:ea typeface="Be Vietnam Ultra-Bold"/>
                <a:cs typeface="Be Vietnam Ultra-Bold"/>
                <a:sym typeface="Be Vietnam Ultra-Bold"/>
              </a:rPr>
              <a:t>05.05.2025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4857750" y="7810500"/>
            <a:ext cx="8572500" cy="3486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35"/>
              </a:lnSpc>
            </a:pPr>
            <a:r>
              <a:rPr lang="en-US" sz="2025">
                <a:solidFill>
                  <a:srgbClr val="151A35"/>
                </a:solidFill>
                <a:latin typeface="Open Sans"/>
                <a:ea typeface="Open Sans"/>
                <a:cs typeface="Open Sans"/>
                <a:sym typeface="Open Sans"/>
              </a:rPr>
              <a:t>Skype for Business chính thức dừng hoạt động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>
  <p:cSld>
    <p:bg>
      <p:bgPr>
        <a:solidFill>
          <a:srgbClr val="0B10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52500" y="723900"/>
            <a:ext cx="14287500" cy="5996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98"/>
              </a:lnSpc>
            </a:pPr>
            <a:r>
              <a:rPr lang="en-US" sz="4350" b="true">
                <a:solidFill>
                  <a:srgbClr val="FFFFFF"/>
                </a:solidFill>
                <a:latin typeface="Be Vietnam Ultra-Bold"/>
                <a:ea typeface="Be Vietnam Ultra-Bold"/>
                <a:cs typeface="Be Vietnam Ultra-Bold"/>
                <a:sym typeface="Be Vietnam Ultra-Bold"/>
              </a:rPr>
              <a:t>So sánh nhanh ba nền tảng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952500" y="2000250"/>
            <a:ext cx="4476750" cy="762000"/>
            <a:chOff x="0" y="0"/>
            <a:chExt cx="5969000" cy="1016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969000" cy="1016000"/>
            </a:xfrm>
            <a:custGeom>
              <a:avLst/>
              <a:gdLst/>
              <a:ahLst/>
              <a:cxnLst/>
              <a:rect r="r" b="b" t="t" l="l"/>
              <a:pathLst>
                <a:path h="1016000" w="5969000">
                  <a:moveTo>
                    <a:pt x="48638" y="0"/>
                  </a:moveTo>
                  <a:lnTo>
                    <a:pt x="5920362" y="0"/>
                  </a:lnTo>
                  <a:cubicBezTo>
                    <a:pt x="5933261" y="0"/>
                    <a:pt x="5945633" y="5124"/>
                    <a:pt x="5954754" y="14246"/>
                  </a:cubicBezTo>
                  <a:cubicBezTo>
                    <a:pt x="5963876" y="23367"/>
                    <a:pt x="5969000" y="35739"/>
                    <a:pt x="5969000" y="48638"/>
                  </a:cubicBezTo>
                  <a:lnTo>
                    <a:pt x="5969000" y="967362"/>
                  </a:lnTo>
                  <a:cubicBezTo>
                    <a:pt x="5969000" y="980261"/>
                    <a:pt x="5963876" y="992633"/>
                    <a:pt x="5954754" y="1001754"/>
                  </a:cubicBezTo>
                  <a:cubicBezTo>
                    <a:pt x="5945633" y="1010876"/>
                    <a:pt x="5933261" y="1016000"/>
                    <a:pt x="5920362" y="1016000"/>
                  </a:cubicBezTo>
                  <a:lnTo>
                    <a:pt x="48638" y="1016000"/>
                  </a:lnTo>
                  <a:cubicBezTo>
                    <a:pt x="35739" y="1016000"/>
                    <a:pt x="23367" y="1010876"/>
                    <a:pt x="14246" y="1001754"/>
                  </a:cubicBezTo>
                  <a:cubicBezTo>
                    <a:pt x="5124" y="992633"/>
                    <a:pt x="0" y="980261"/>
                    <a:pt x="0" y="967362"/>
                  </a:cubicBezTo>
                  <a:lnTo>
                    <a:pt x="0" y="48638"/>
                  </a:lnTo>
                  <a:cubicBezTo>
                    <a:pt x="0" y="35739"/>
                    <a:pt x="5124" y="23367"/>
                    <a:pt x="14246" y="14246"/>
                  </a:cubicBezTo>
                  <a:cubicBezTo>
                    <a:pt x="23367" y="5124"/>
                    <a:pt x="35739" y="0"/>
                    <a:pt x="48638" y="0"/>
                  </a:cubicBezTo>
                  <a:close/>
                </a:path>
              </a:pathLst>
            </a:custGeom>
            <a:solidFill>
              <a:srgbClr val="303858"/>
            </a:solidFill>
            <a:ln cap="sq">
              <a:noFill/>
              <a:prstDash val="solid"/>
              <a:miter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19050"/>
              <a:ext cx="5969000" cy="9969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070"/>
                </a:lnSpc>
              </a:pPr>
              <a:r>
                <a:rPr lang="en-US" sz="1800" b="true">
                  <a:solidFill>
                    <a:srgbClr val="FFFFFF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TIÊU CHÍ</a:t>
              </a: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5715000" y="2000250"/>
            <a:ext cx="3714750" cy="762000"/>
            <a:chOff x="0" y="0"/>
            <a:chExt cx="4953000" cy="10160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4953000" cy="1016000"/>
            </a:xfrm>
            <a:custGeom>
              <a:avLst/>
              <a:gdLst/>
              <a:ahLst/>
              <a:cxnLst/>
              <a:rect r="r" b="b" t="t" l="l"/>
              <a:pathLst>
                <a:path h="1016000" w="4953000">
                  <a:moveTo>
                    <a:pt x="58615" y="0"/>
                  </a:moveTo>
                  <a:lnTo>
                    <a:pt x="4894385" y="0"/>
                  </a:lnTo>
                  <a:cubicBezTo>
                    <a:pt x="4926757" y="0"/>
                    <a:pt x="4953000" y="26243"/>
                    <a:pt x="4953000" y="58615"/>
                  </a:cubicBezTo>
                  <a:lnTo>
                    <a:pt x="4953000" y="957385"/>
                  </a:lnTo>
                  <a:cubicBezTo>
                    <a:pt x="4953000" y="989757"/>
                    <a:pt x="4926757" y="1016000"/>
                    <a:pt x="4894385" y="1016000"/>
                  </a:cubicBezTo>
                  <a:lnTo>
                    <a:pt x="58615" y="1016000"/>
                  </a:lnTo>
                  <a:cubicBezTo>
                    <a:pt x="26243" y="1016000"/>
                    <a:pt x="0" y="989757"/>
                    <a:pt x="0" y="957385"/>
                  </a:cubicBezTo>
                  <a:lnTo>
                    <a:pt x="0" y="58615"/>
                  </a:lnTo>
                  <a:cubicBezTo>
                    <a:pt x="0" y="26243"/>
                    <a:pt x="26243" y="0"/>
                    <a:pt x="58615" y="0"/>
                  </a:cubicBezTo>
                  <a:close/>
                </a:path>
              </a:pathLst>
            </a:custGeom>
            <a:solidFill>
              <a:srgbClr val="D9468D"/>
            </a:solidFill>
            <a:ln cap="sq">
              <a:noFill/>
              <a:prstDash val="solid"/>
              <a:miter/>
            </a:ln>
          </p:spPr>
        </p:sp>
        <p:sp>
          <p:nvSpPr>
            <p:cNvPr name="TextBox 8" id="8"/>
            <p:cNvSpPr txBox="true"/>
            <p:nvPr/>
          </p:nvSpPr>
          <p:spPr>
            <a:xfrm>
              <a:off x="0" y="19050"/>
              <a:ext cx="4953000" cy="9969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070"/>
                </a:lnSpc>
              </a:pPr>
              <a:r>
                <a:rPr lang="en-US" sz="1800" b="true">
                  <a:solidFill>
                    <a:srgbClr val="FFFFFF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SLACK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9715500" y="2000250"/>
            <a:ext cx="3714750" cy="762000"/>
            <a:chOff x="0" y="0"/>
            <a:chExt cx="4953000" cy="10160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4953000" cy="1016000"/>
            </a:xfrm>
            <a:custGeom>
              <a:avLst/>
              <a:gdLst/>
              <a:ahLst/>
              <a:cxnLst/>
              <a:rect r="r" b="b" t="t" l="l"/>
              <a:pathLst>
                <a:path h="1016000" w="4953000">
                  <a:moveTo>
                    <a:pt x="58615" y="0"/>
                  </a:moveTo>
                  <a:lnTo>
                    <a:pt x="4894385" y="0"/>
                  </a:lnTo>
                  <a:cubicBezTo>
                    <a:pt x="4926757" y="0"/>
                    <a:pt x="4953000" y="26243"/>
                    <a:pt x="4953000" y="58615"/>
                  </a:cubicBezTo>
                  <a:lnTo>
                    <a:pt x="4953000" y="957385"/>
                  </a:lnTo>
                  <a:cubicBezTo>
                    <a:pt x="4953000" y="989757"/>
                    <a:pt x="4926757" y="1016000"/>
                    <a:pt x="4894385" y="1016000"/>
                  </a:cubicBezTo>
                  <a:lnTo>
                    <a:pt x="58615" y="1016000"/>
                  </a:lnTo>
                  <a:cubicBezTo>
                    <a:pt x="26243" y="1016000"/>
                    <a:pt x="0" y="989757"/>
                    <a:pt x="0" y="957385"/>
                  </a:cubicBezTo>
                  <a:lnTo>
                    <a:pt x="0" y="58615"/>
                  </a:lnTo>
                  <a:cubicBezTo>
                    <a:pt x="0" y="26243"/>
                    <a:pt x="26243" y="0"/>
                    <a:pt x="58615" y="0"/>
                  </a:cubicBezTo>
                  <a:close/>
                </a:path>
              </a:pathLst>
            </a:custGeom>
            <a:solidFill>
              <a:srgbClr val="6857E5"/>
            </a:solidFill>
            <a:ln cap="sq">
              <a:noFill/>
              <a:prstDash val="solid"/>
              <a:miter/>
            </a:ln>
          </p:spPr>
        </p:sp>
        <p:sp>
          <p:nvSpPr>
            <p:cNvPr name="TextBox 11" id="11"/>
            <p:cNvSpPr txBox="true"/>
            <p:nvPr/>
          </p:nvSpPr>
          <p:spPr>
            <a:xfrm>
              <a:off x="0" y="19050"/>
              <a:ext cx="4953000" cy="9969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070"/>
                </a:lnSpc>
              </a:pPr>
              <a:r>
                <a:rPr lang="en-US" sz="1800" b="true">
                  <a:solidFill>
                    <a:srgbClr val="FFFFFF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DISCORD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13716000" y="2000250"/>
            <a:ext cx="3619500" cy="762000"/>
            <a:chOff x="0" y="0"/>
            <a:chExt cx="4826000" cy="10160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4826000" cy="1016000"/>
            </a:xfrm>
            <a:custGeom>
              <a:avLst/>
              <a:gdLst/>
              <a:ahLst/>
              <a:cxnLst/>
              <a:rect r="r" b="b" t="t" l="l"/>
              <a:pathLst>
                <a:path h="1016000" w="4826000">
                  <a:moveTo>
                    <a:pt x="60158" y="0"/>
                  </a:moveTo>
                  <a:lnTo>
                    <a:pt x="4765842" y="0"/>
                  </a:lnTo>
                  <a:cubicBezTo>
                    <a:pt x="4799066" y="0"/>
                    <a:pt x="4826000" y="26934"/>
                    <a:pt x="4826000" y="60158"/>
                  </a:cubicBezTo>
                  <a:lnTo>
                    <a:pt x="4826000" y="955842"/>
                  </a:lnTo>
                  <a:cubicBezTo>
                    <a:pt x="4826000" y="989066"/>
                    <a:pt x="4799066" y="1016000"/>
                    <a:pt x="4765842" y="1016000"/>
                  </a:cubicBezTo>
                  <a:lnTo>
                    <a:pt x="60158" y="1016000"/>
                  </a:lnTo>
                  <a:cubicBezTo>
                    <a:pt x="26934" y="1016000"/>
                    <a:pt x="0" y="989066"/>
                    <a:pt x="0" y="955842"/>
                  </a:cubicBezTo>
                  <a:lnTo>
                    <a:pt x="0" y="60158"/>
                  </a:lnTo>
                  <a:cubicBezTo>
                    <a:pt x="0" y="26934"/>
                    <a:pt x="26934" y="0"/>
                    <a:pt x="60158" y="0"/>
                  </a:cubicBezTo>
                  <a:close/>
                </a:path>
              </a:pathLst>
            </a:custGeom>
            <a:solidFill>
              <a:srgbClr val="4F7DF3"/>
            </a:solidFill>
            <a:ln cap="sq">
              <a:noFill/>
              <a:prstDash val="solid"/>
              <a:miter/>
            </a:ln>
          </p:spPr>
        </p:sp>
        <p:sp>
          <p:nvSpPr>
            <p:cNvPr name="TextBox 14" id="14"/>
            <p:cNvSpPr txBox="true"/>
            <p:nvPr/>
          </p:nvSpPr>
          <p:spPr>
            <a:xfrm>
              <a:off x="0" y="19050"/>
              <a:ext cx="4826000" cy="9969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070"/>
                </a:lnSpc>
              </a:pPr>
              <a:r>
                <a:rPr lang="en-US" sz="1800" b="true">
                  <a:solidFill>
                    <a:srgbClr val="FFFFFF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TEAMS</a:t>
              </a: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1095375" y="3105150"/>
            <a:ext cx="4191000" cy="3238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5"/>
              </a:lnSpc>
            </a:pPr>
            <a:r>
              <a:rPr lang="en-US" sz="1875" b="true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Định vị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5857875" y="3114675"/>
            <a:ext cx="3429000" cy="2971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sz="18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Doanh nghiệp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9858375" y="3114675"/>
            <a:ext cx="3429000" cy="2971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sz="18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Cộng đồng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3858875" y="3114675"/>
            <a:ext cx="3333750" cy="2971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sz="18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Tổ chức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095375" y="4295775"/>
            <a:ext cx="4191000" cy="3238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5"/>
              </a:lnSpc>
            </a:pPr>
            <a:r>
              <a:rPr lang="en-US" sz="1875" b="true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Âm thanh / video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5857875" y="4305300"/>
            <a:ext cx="3429000" cy="2971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sz="18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Tốt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9858375" y="4305300"/>
            <a:ext cx="3429000" cy="2971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sz="18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Rất mạnh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3858875" y="4305300"/>
            <a:ext cx="3333750" cy="2971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sz="18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Rất mạnh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095375" y="5486400"/>
            <a:ext cx="4191000" cy="3238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5"/>
              </a:lnSpc>
            </a:pPr>
            <a:r>
              <a:rPr lang="en-US" sz="1875" b="true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Kênh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5857875" y="5495925"/>
            <a:ext cx="3429000" cy="2971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sz="18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Linh hoạt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9858375" y="5495925"/>
            <a:ext cx="3429000" cy="2971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sz="18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Server đa tầng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3858875" y="5495925"/>
            <a:ext cx="3333750" cy="2971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sz="18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Theo nhóm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095375" y="6677025"/>
            <a:ext cx="4191000" cy="3238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5"/>
              </a:lnSpc>
            </a:pPr>
            <a:r>
              <a:rPr lang="en-US" sz="1875" b="true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Tích hợp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5857875" y="6686550"/>
            <a:ext cx="3429000" cy="2971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sz="18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Rất rộng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9858375" y="6686550"/>
            <a:ext cx="3429000" cy="2971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sz="18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Bot phong phú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3858875" y="6686550"/>
            <a:ext cx="3333750" cy="2971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sz="18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Office sâu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095375" y="7867650"/>
            <a:ext cx="4191000" cy="3238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5"/>
              </a:lnSpc>
            </a:pPr>
            <a:r>
              <a:rPr lang="en-US" sz="1875" b="true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Tệp &amp; tìm kiếm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5857875" y="7877175"/>
            <a:ext cx="3429000" cy="2971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sz="18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Mạnh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9858375" y="7877175"/>
            <a:ext cx="3429000" cy="2971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sz="18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Cơ bản–tốt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13858875" y="7877175"/>
            <a:ext cx="3333750" cy="2971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sz="18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Mạnh</a:t>
            </a:r>
          </a:p>
        </p:txBody>
      </p:sp>
      <p:sp>
        <p:nvSpPr>
          <p:cNvPr name="AutoShape 35" id="35"/>
          <p:cNvSpPr/>
          <p:nvPr/>
        </p:nvSpPr>
        <p:spPr>
          <a:xfrm>
            <a:off x="952500" y="3857625"/>
            <a:ext cx="16383000" cy="0"/>
          </a:xfrm>
          <a:prstGeom prst="line">
            <a:avLst/>
          </a:prstGeom>
          <a:ln cap="flat" w="19050">
            <a:solidFill>
              <a:srgbClr val="30385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6" id="36"/>
          <p:cNvSpPr/>
          <p:nvPr/>
        </p:nvSpPr>
        <p:spPr>
          <a:xfrm>
            <a:off x="952500" y="5048250"/>
            <a:ext cx="16383000" cy="0"/>
          </a:xfrm>
          <a:prstGeom prst="line">
            <a:avLst/>
          </a:prstGeom>
          <a:ln cap="flat" w="19050">
            <a:solidFill>
              <a:srgbClr val="30385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7" id="37"/>
          <p:cNvSpPr/>
          <p:nvPr/>
        </p:nvSpPr>
        <p:spPr>
          <a:xfrm>
            <a:off x="952500" y="6238875"/>
            <a:ext cx="16383000" cy="0"/>
          </a:xfrm>
          <a:prstGeom prst="line">
            <a:avLst/>
          </a:prstGeom>
          <a:ln cap="flat" w="19050">
            <a:solidFill>
              <a:srgbClr val="30385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8" id="38"/>
          <p:cNvSpPr/>
          <p:nvPr/>
        </p:nvSpPr>
        <p:spPr>
          <a:xfrm>
            <a:off x="952500" y="7429500"/>
            <a:ext cx="16383000" cy="0"/>
          </a:xfrm>
          <a:prstGeom prst="line">
            <a:avLst/>
          </a:prstGeom>
          <a:ln cap="flat" w="19050">
            <a:solidFill>
              <a:srgbClr val="30385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9" id="39"/>
          <p:cNvSpPr/>
          <p:nvPr/>
        </p:nvSpPr>
        <p:spPr>
          <a:xfrm>
            <a:off x="952500" y="8620125"/>
            <a:ext cx="16383000" cy="0"/>
          </a:xfrm>
          <a:prstGeom prst="line">
            <a:avLst/>
          </a:prstGeom>
          <a:ln cap="flat" w="19050">
            <a:solidFill>
              <a:srgbClr val="303858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>
  <p:cSld>
    <p:bg>
      <p:bgPr>
        <a:solidFill>
          <a:srgbClr val="F7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52500" y="723900"/>
            <a:ext cx="14287500" cy="5996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98"/>
              </a:lnSpc>
            </a:pPr>
            <a:r>
              <a:rPr lang="en-US" sz="4350" b="true">
                <a:solidFill>
                  <a:srgbClr val="151A35"/>
                </a:solidFill>
                <a:latin typeface="Be Vietnam Ultra-Bold"/>
                <a:ea typeface="Be Vietnam Ultra-Bold"/>
                <a:cs typeface="Be Vietnam Ultra-Bold"/>
                <a:sym typeface="Be Vietnam Ultra-Bold"/>
              </a:rPr>
              <a:t>Ứng dụng nào phù hợp với ai?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952500" y="2381250"/>
            <a:ext cx="4857750" cy="6000750"/>
            <a:chOff x="0" y="0"/>
            <a:chExt cx="6477000" cy="8001000"/>
          </a:xfrm>
        </p:grpSpPr>
        <p:grpSp>
          <p:nvGrpSpPr>
            <p:cNvPr name="Group 4" id="4"/>
            <p:cNvGrpSpPr/>
            <p:nvPr/>
          </p:nvGrpSpPr>
          <p:grpSpPr>
            <a:xfrm rot="0">
              <a:off x="0" y="0"/>
              <a:ext cx="6477000" cy="8001000"/>
              <a:chOff x="0" y="0"/>
              <a:chExt cx="6477000" cy="8001000"/>
            </a:xfrm>
          </p:grpSpPr>
          <p:sp>
            <p:nvSpPr>
              <p:cNvPr name="Freeform 5" id="5"/>
              <p:cNvSpPr/>
              <p:nvPr/>
            </p:nvSpPr>
            <p:spPr>
              <a:xfrm flipH="false" flipV="false" rot="0">
                <a:off x="0" y="0"/>
                <a:ext cx="6477000" cy="8001000"/>
              </a:xfrm>
              <a:custGeom>
                <a:avLst/>
                <a:gdLst/>
                <a:ahLst/>
                <a:cxnLst/>
                <a:rect r="r" b="b" t="t" l="l"/>
                <a:pathLst>
                  <a:path h="8001000" w="6477000">
                    <a:moveTo>
                      <a:pt x="0" y="0"/>
                    </a:moveTo>
                    <a:lnTo>
                      <a:pt x="6477000" y="0"/>
                    </a:lnTo>
                    <a:lnTo>
                      <a:pt x="6477000" y="8001000"/>
                    </a:lnTo>
                    <a:lnTo>
                      <a:pt x="0" y="8001000"/>
                    </a:lnTo>
                    <a:close/>
                  </a:path>
                </a:pathLst>
              </a:custGeom>
              <a:solidFill>
                <a:srgbClr val="FFFFFF"/>
              </a:solidFill>
              <a:ln w="28575" cap="sq">
                <a:solidFill>
                  <a:srgbClr val="D9468D"/>
                </a:solidFill>
                <a:prstDash val="solid"/>
                <a:miter/>
              </a:ln>
            </p:spPr>
          </p:sp>
          <p:sp>
            <p:nvSpPr>
              <p:cNvPr name="TextBox 6" id="6"/>
              <p:cNvSpPr txBox="true"/>
              <p:nvPr/>
            </p:nvSpPr>
            <p:spPr>
              <a:xfrm>
                <a:off x="0" y="-38100"/>
                <a:ext cx="6477000" cy="80391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sp>
          <p:nvSpPr>
            <p:cNvPr name="TextBox 7" id="7"/>
            <p:cNvSpPr txBox="true"/>
            <p:nvPr/>
          </p:nvSpPr>
          <p:spPr>
            <a:xfrm rot="0">
              <a:off x="482600" y="631825"/>
              <a:ext cx="5461000" cy="72961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4620"/>
                </a:lnSpc>
              </a:pPr>
              <a:r>
                <a:rPr lang="en-US" sz="3300" b="true">
                  <a:solidFill>
                    <a:srgbClr val="D9468D"/>
                  </a:solidFill>
                  <a:latin typeface="Be Vietnam Ultra-Bold"/>
                  <a:ea typeface="Be Vietnam Ultra-Bold"/>
                  <a:cs typeface="Be Vietnam Ultra-Bold"/>
                  <a:sym typeface="Be Vietnam Ultra-Bold"/>
                </a:rPr>
                <a:t>SLACK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482600" y="2238375"/>
              <a:ext cx="5461000" cy="44894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835"/>
                </a:lnSpc>
              </a:pPr>
              <a:r>
                <a:rPr lang="en-US" sz="2025">
                  <a:solidFill>
                    <a:srgbClr val="151A35"/>
                  </a:solidFill>
                  <a:latin typeface="Open Sans"/>
                  <a:ea typeface="Open Sans"/>
                  <a:cs typeface="Open Sans"/>
                  <a:sym typeface="Open Sans"/>
                </a:rPr>
                <a:t>+ Tích hợp, chuẩn doanh nghiệp</a:t>
              </a:r>
            </a:p>
          </p:txBody>
        </p:sp>
        <p:sp>
          <p:nvSpPr>
            <p:cNvPr name="TextBox 9" id="9"/>
            <p:cNvSpPr txBox="true"/>
            <p:nvPr/>
          </p:nvSpPr>
          <p:spPr>
            <a:xfrm rot="0">
              <a:off x="482600" y="4016375"/>
              <a:ext cx="5461000" cy="44894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835"/>
                </a:lnSpc>
              </a:pPr>
              <a:r>
                <a:rPr lang="en-US" sz="2025">
                  <a:solidFill>
                    <a:srgbClr val="151A35"/>
                  </a:solidFill>
                  <a:latin typeface="Open Sans"/>
                  <a:ea typeface="Open Sans"/>
                  <a:cs typeface="Open Sans"/>
                  <a:sym typeface="Open Sans"/>
                </a:rPr>
                <a:t>− Chi phí cao</a:t>
              </a:r>
            </a:p>
          </p:txBody>
        </p:sp>
        <p:sp>
          <p:nvSpPr>
            <p:cNvPr name="TextBox 10" id="10"/>
            <p:cNvSpPr txBox="true"/>
            <p:nvPr/>
          </p:nvSpPr>
          <p:spPr>
            <a:xfrm rot="0">
              <a:off x="482600" y="6184900"/>
              <a:ext cx="5461000" cy="8032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501"/>
                </a:lnSpc>
              </a:pPr>
              <a:r>
                <a:rPr lang="en-US" sz="1725" b="true">
                  <a:solidFill>
                    <a:srgbClr val="151A35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PHÙ HỢP</a:t>
              </a:r>
            </a:p>
            <a:p>
              <a:pPr algn="l">
                <a:lnSpc>
                  <a:spcPts val="2501"/>
                </a:lnSpc>
              </a:pPr>
              <a:r>
                <a:rPr lang="en-US" sz="1725" b="true">
                  <a:solidFill>
                    <a:srgbClr val="151A35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Nhóm sản phẩm &amp; công ty số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6477000" y="2381250"/>
            <a:ext cx="4857750" cy="6000750"/>
            <a:chOff x="0" y="0"/>
            <a:chExt cx="6477000" cy="8001000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0" y="0"/>
              <a:ext cx="6477000" cy="8001000"/>
              <a:chOff x="0" y="0"/>
              <a:chExt cx="6477000" cy="800100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6477000" cy="8001000"/>
              </a:xfrm>
              <a:custGeom>
                <a:avLst/>
                <a:gdLst/>
                <a:ahLst/>
                <a:cxnLst/>
                <a:rect r="r" b="b" t="t" l="l"/>
                <a:pathLst>
                  <a:path h="8001000" w="6477000">
                    <a:moveTo>
                      <a:pt x="0" y="0"/>
                    </a:moveTo>
                    <a:lnTo>
                      <a:pt x="6477000" y="0"/>
                    </a:lnTo>
                    <a:lnTo>
                      <a:pt x="6477000" y="8001000"/>
                    </a:lnTo>
                    <a:lnTo>
                      <a:pt x="0" y="8001000"/>
                    </a:lnTo>
                    <a:close/>
                  </a:path>
                </a:pathLst>
              </a:custGeom>
              <a:solidFill>
                <a:srgbClr val="FFFFFF"/>
              </a:solidFill>
              <a:ln w="28575" cap="sq">
                <a:solidFill>
                  <a:srgbClr val="6857E5"/>
                </a:solidFill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38100"/>
                <a:ext cx="6477000" cy="80391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sp>
          <p:nvSpPr>
            <p:cNvPr name="TextBox 15" id="15"/>
            <p:cNvSpPr txBox="true"/>
            <p:nvPr/>
          </p:nvSpPr>
          <p:spPr>
            <a:xfrm rot="0">
              <a:off x="482600" y="631825"/>
              <a:ext cx="5461000" cy="72961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4620"/>
                </a:lnSpc>
              </a:pPr>
              <a:r>
                <a:rPr lang="en-US" sz="3300" b="true">
                  <a:solidFill>
                    <a:srgbClr val="6857E5"/>
                  </a:solidFill>
                  <a:latin typeface="Be Vietnam Ultra-Bold"/>
                  <a:ea typeface="Be Vietnam Ultra-Bold"/>
                  <a:cs typeface="Be Vietnam Ultra-Bold"/>
                  <a:sym typeface="Be Vietnam Ultra-Bold"/>
                </a:rPr>
                <a:t>DISCORD</a:t>
              </a:r>
            </a:p>
          </p:txBody>
        </p:sp>
        <p:sp>
          <p:nvSpPr>
            <p:cNvPr name="TextBox 16" id="16"/>
            <p:cNvSpPr txBox="true"/>
            <p:nvPr/>
          </p:nvSpPr>
          <p:spPr>
            <a:xfrm rot="0">
              <a:off x="482600" y="2238375"/>
              <a:ext cx="5461000" cy="44894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835"/>
                </a:lnSpc>
              </a:pPr>
              <a:r>
                <a:rPr lang="en-US" sz="2025">
                  <a:solidFill>
                    <a:srgbClr val="151A35"/>
                  </a:solidFill>
                  <a:latin typeface="Open Sans"/>
                  <a:ea typeface="Open Sans"/>
                  <a:cs typeface="Open Sans"/>
                  <a:sym typeface="Open Sans"/>
                </a:rPr>
                <a:t>+ Cộng đồng, gói miễn phí</a:t>
              </a:r>
            </a:p>
          </p:txBody>
        </p:sp>
        <p:sp>
          <p:nvSpPr>
            <p:cNvPr name="TextBox 17" id="17"/>
            <p:cNvSpPr txBox="true"/>
            <p:nvPr/>
          </p:nvSpPr>
          <p:spPr>
            <a:xfrm rot="0">
              <a:off x="482600" y="4016375"/>
              <a:ext cx="5461000" cy="44894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835"/>
                </a:lnSpc>
              </a:pPr>
              <a:r>
                <a:rPr lang="en-US" sz="2025">
                  <a:solidFill>
                    <a:srgbClr val="151A35"/>
                  </a:solidFill>
                  <a:latin typeface="Open Sans"/>
                  <a:ea typeface="Open Sans"/>
                  <a:cs typeface="Open Sans"/>
                  <a:sym typeface="Open Sans"/>
                </a:rPr>
                <a:t>− Kém hợp quản trị truyền thống</a:t>
              </a:r>
            </a:p>
          </p:txBody>
        </p:sp>
        <p:sp>
          <p:nvSpPr>
            <p:cNvPr name="TextBox 18" id="18"/>
            <p:cNvSpPr txBox="true"/>
            <p:nvPr/>
          </p:nvSpPr>
          <p:spPr>
            <a:xfrm rot="0">
              <a:off x="482600" y="6184900"/>
              <a:ext cx="5461000" cy="8032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501"/>
                </a:lnSpc>
              </a:pPr>
              <a:r>
                <a:rPr lang="en-US" sz="1725" b="true">
                  <a:solidFill>
                    <a:srgbClr val="151A35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PHÙ HỢP</a:t>
              </a:r>
            </a:p>
            <a:p>
              <a:pPr algn="l">
                <a:lnSpc>
                  <a:spcPts val="2501"/>
                </a:lnSpc>
              </a:pPr>
              <a:r>
                <a:rPr lang="en-US" sz="1725" b="true">
                  <a:solidFill>
                    <a:srgbClr val="151A35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CLB, creator &amp; cộng đồng</a:t>
              </a: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12001500" y="2381250"/>
            <a:ext cx="4857750" cy="6000750"/>
            <a:chOff x="0" y="0"/>
            <a:chExt cx="6477000" cy="8001000"/>
          </a:xfrm>
        </p:grpSpPr>
        <p:grpSp>
          <p:nvGrpSpPr>
            <p:cNvPr name="Group 20" id="20"/>
            <p:cNvGrpSpPr/>
            <p:nvPr/>
          </p:nvGrpSpPr>
          <p:grpSpPr>
            <a:xfrm rot="0">
              <a:off x="0" y="0"/>
              <a:ext cx="6477000" cy="8001000"/>
              <a:chOff x="0" y="0"/>
              <a:chExt cx="6477000" cy="8001000"/>
            </a:xfrm>
          </p:grpSpPr>
          <p:sp>
            <p:nvSpPr>
              <p:cNvPr name="Freeform 21" id="21"/>
              <p:cNvSpPr/>
              <p:nvPr/>
            </p:nvSpPr>
            <p:spPr>
              <a:xfrm flipH="false" flipV="false" rot="0">
                <a:off x="0" y="0"/>
                <a:ext cx="6477000" cy="8001000"/>
              </a:xfrm>
              <a:custGeom>
                <a:avLst/>
                <a:gdLst/>
                <a:ahLst/>
                <a:cxnLst/>
                <a:rect r="r" b="b" t="t" l="l"/>
                <a:pathLst>
                  <a:path h="8001000" w="6477000">
                    <a:moveTo>
                      <a:pt x="0" y="0"/>
                    </a:moveTo>
                    <a:lnTo>
                      <a:pt x="6477000" y="0"/>
                    </a:lnTo>
                    <a:lnTo>
                      <a:pt x="6477000" y="8001000"/>
                    </a:lnTo>
                    <a:lnTo>
                      <a:pt x="0" y="8001000"/>
                    </a:lnTo>
                    <a:close/>
                  </a:path>
                </a:pathLst>
              </a:custGeom>
              <a:solidFill>
                <a:srgbClr val="FFFFFF"/>
              </a:solidFill>
              <a:ln w="28575" cap="sq">
                <a:solidFill>
                  <a:srgbClr val="4F7DF3"/>
                </a:solidFill>
                <a:prstDash val="solid"/>
                <a:miter/>
              </a:ln>
            </p:spPr>
          </p:sp>
          <p:sp>
            <p:nvSpPr>
              <p:cNvPr name="TextBox 22" id="22"/>
              <p:cNvSpPr txBox="true"/>
              <p:nvPr/>
            </p:nvSpPr>
            <p:spPr>
              <a:xfrm>
                <a:off x="0" y="-38100"/>
                <a:ext cx="6477000" cy="80391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sp>
          <p:nvSpPr>
            <p:cNvPr name="TextBox 23" id="23"/>
            <p:cNvSpPr txBox="true"/>
            <p:nvPr/>
          </p:nvSpPr>
          <p:spPr>
            <a:xfrm rot="0">
              <a:off x="482600" y="631825"/>
              <a:ext cx="5461000" cy="72961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4620"/>
                </a:lnSpc>
              </a:pPr>
              <a:r>
                <a:rPr lang="en-US" sz="3300" b="true">
                  <a:solidFill>
                    <a:srgbClr val="4F7DF3"/>
                  </a:solidFill>
                  <a:latin typeface="Be Vietnam Ultra-Bold"/>
                  <a:ea typeface="Be Vietnam Ultra-Bold"/>
                  <a:cs typeface="Be Vietnam Ultra-Bold"/>
                  <a:sym typeface="Be Vietnam Ultra-Bold"/>
                </a:rPr>
                <a:t>TEAMS</a:t>
              </a:r>
            </a:p>
          </p:txBody>
        </p:sp>
        <p:sp>
          <p:nvSpPr>
            <p:cNvPr name="TextBox 24" id="24"/>
            <p:cNvSpPr txBox="true"/>
            <p:nvPr/>
          </p:nvSpPr>
          <p:spPr>
            <a:xfrm rot="0">
              <a:off x="482600" y="2238375"/>
              <a:ext cx="5461000" cy="44894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835"/>
                </a:lnSpc>
              </a:pPr>
              <a:r>
                <a:rPr lang="en-US" sz="2025">
                  <a:solidFill>
                    <a:srgbClr val="151A35"/>
                  </a:solidFill>
                  <a:latin typeface="Open Sans"/>
                  <a:ea typeface="Open Sans"/>
                  <a:cs typeface="Open Sans"/>
                  <a:sym typeface="Open Sans"/>
                </a:rPr>
                <a:t>+ Office, quản trị quy mô</a:t>
              </a:r>
            </a:p>
          </p:txBody>
        </p:sp>
        <p:sp>
          <p:nvSpPr>
            <p:cNvPr name="TextBox 25" id="25"/>
            <p:cNvSpPr txBox="true"/>
            <p:nvPr/>
          </p:nvSpPr>
          <p:spPr>
            <a:xfrm rot="0">
              <a:off x="482600" y="4016375"/>
              <a:ext cx="5461000" cy="44894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835"/>
                </a:lnSpc>
              </a:pPr>
              <a:r>
                <a:rPr lang="en-US" sz="2025">
                  <a:solidFill>
                    <a:srgbClr val="151A35"/>
                  </a:solidFill>
                  <a:latin typeface="Open Sans"/>
                  <a:ea typeface="Open Sans"/>
                  <a:cs typeface="Open Sans"/>
                  <a:sym typeface="Open Sans"/>
                </a:rPr>
                <a:t>− Giao diện phức tạp</a:t>
              </a:r>
            </a:p>
          </p:txBody>
        </p:sp>
        <p:sp>
          <p:nvSpPr>
            <p:cNvPr name="TextBox 26" id="26"/>
            <p:cNvSpPr txBox="true"/>
            <p:nvPr/>
          </p:nvSpPr>
          <p:spPr>
            <a:xfrm rot="0">
              <a:off x="482600" y="6184900"/>
              <a:ext cx="5461000" cy="8032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501"/>
                </a:lnSpc>
              </a:pPr>
              <a:r>
                <a:rPr lang="en-US" sz="1725" b="true">
                  <a:solidFill>
                    <a:srgbClr val="151A35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PHÙ HỢP</a:t>
              </a:r>
            </a:p>
            <a:p>
              <a:pPr algn="l">
                <a:lnSpc>
                  <a:spcPts val="2501"/>
                </a:lnSpc>
              </a:pPr>
              <a:r>
                <a:rPr lang="en-US" sz="1725" b="true">
                  <a:solidFill>
                    <a:srgbClr val="151A35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Trường học &amp; tổ chức lớn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>
  <p:cSld>
    <p:bg>
      <p:bgPr>
        <a:solidFill>
          <a:srgbClr val="0B10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52500" y="723900"/>
            <a:ext cx="14287500" cy="5996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98"/>
              </a:lnSpc>
            </a:pPr>
            <a:r>
              <a:rPr lang="en-US" sz="4350" b="true">
                <a:solidFill>
                  <a:srgbClr val="FFFFFF"/>
                </a:solidFill>
                <a:latin typeface="Be Vietnam Ultra-Bold"/>
                <a:ea typeface="Be Vietnam Ultra-Bold"/>
                <a:cs typeface="Be Vietnam Ultra-Bold"/>
                <a:sym typeface="Be Vietnam Ultra-Bold"/>
              </a:rPr>
              <a:t>Chọn theo môi trường — không theo xu hướng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4953000" y="2314575"/>
            <a:ext cx="8382000" cy="613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40"/>
              </a:lnSpc>
            </a:pPr>
            <a:r>
              <a:rPr lang="en-US" sz="3600" b="true">
                <a:solidFill>
                  <a:srgbClr val="FFFFFF"/>
                </a:solidFill>
                <a:latin typeface="Be Vietnam Ultra-Bold"/>
                <a:ea typeface="Be Vietnam Ultra-Bold"/>
                <a:cs typeface="Be Vietnam Ultra-Bold"/>
                <a:sym typeface="Be Vietnam Ultra-Bold"/>
              </a:rPr>
              <a:t>Bạn cần tối ưu điều gì?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1238250" y="4381500"/>
            <a:ext cx="4762500" cy="1000125"/>
            <a:chOff x="0" y="0"/>
            <a:chExt cx="6350000" cy="13335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6350000" cy="1333500"/>
            </a:xfrm>
            <a:custGeom>
              <a:avLst/>
              <a:gdLst/>
              <a:ahLst/>
              <a:cxnLst/>
              <a:rect r="r" b="b" t="t" l="l"/>
              <a:pathLst>
                <a:path h="1333500" w="6350000">
                  <a:moveTo>
                    <a:pt x="45720" y="0"/>
                  </a:moveTo>
                  <a:lnTo>
                    <a:pt x="6304280" y="0"/>
                  </a:lnTo>
                  <a:cubicBezTo>
                    <a:pt x="6316406" y="0"/>
                    <a:pt x="6328035" y="4817"/>
                    <a:pt x="6336609" y="13391"/>
                  </a:cubicBezTo>
                  <a:cubicBezTo>
                    <a:pt x="6345183" y="21965"/>
                    <a:pt x="6350000" y="33594"/>
                    <a:pt x="6350000" y="45720"/>
                  </a:cubicBezTo>
                  <a:lnTo>
                    <a:pt x="6350000" y="1287780"/>
                  </a:lnTo>
                  <a:cubicBezTo>
                    <a:pt x="6350000" y="1313031"/>
                    <a:pt x="6329530" y="1333500"/>
                    <a:pt x="6304280" y="1333500"/>
                  </a:cubicBezTo>
                  <a:lnTo>
                    <a:pt x="45720" y="1333500"/>
                  </a:lnTo>
                  <a:cubicBezTo>
                    <a:pt x="20470" y="1333500"/>
                    <a:pt x="0" y="1313031"/>
                    <a:pt x="0" y="1287780"/>
                  </a:cubicBezTo>
                  <a:lnTo>
                    <a:pt x="0" y="45720"/>
                  </a:lnTo>
                  <a:cubicBezTo>
                    <a:pt x="0" y="20470"/>
                    <a:pt x="20470" y="0"/>
                    <a:pt x="45720" y="0"/>
                  </a:cubicBezTo>
                  <a:close/>
                </a:path>
              </a:pathLst>
            </a:custGeom>
            <a:solidFill>
              <a:srgbClr val="303858"/>
            </a:solidFill>
            <a:ln cap="sq">
              <a:noFill/>
              <a:prstDash val="solid"/>
              <a:miter/>
            </a:ln>
          </p:spPr>
        </p:sp>
        <p:sp>
          <p:nvSpPr>
            <p:cNvPr name="TextBox 6" id="6"/>
            <p:cNvSpPr txBox="true"/>
            <p:nvPr/>
          </p:nvSpPr>
          <p:spPr>
            <a:xfrm>
              <a:off x="0" y="19050"/>
              <a:ext cx="6350000" cy="13144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070"/>
                </a:lnSpc>
              </a:pPr>
              <a:r>
                <a:rPr lang="en-US" sz="1800" b="true">
                  <a:solidFill>
                    <a:srgbClr val="FFFFFF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DOANH NGHIỆP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238250" y="6191250"/>
            <a:ext cx="4762500" cy="1333500"/>
            <a:chOff x="0" y="0"/>
            <a:chExt cx="6350000" cy="1778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6350000" cy="1778000"/>
            </a:xfrm>
            <a:custGeom>
              <a:avLst/>
              <a:gdLst/>
              <a:ahLst/>
              <a:cxnLst/>
              <a:rect r="r" b="b" t="t" l="l"/>
              <a:pathLst>
                <a:path h="1778000" w="6350000">
                  <a:moveTo>
                    <a:pt x="45720" y="0"/>
                  </a:moveTo>
                  <a:lnTo>
                    <a:pt x="6304280" y="0"/>
                  </a:lnTo>
                  <a:cubicBezTo>
                    <a:pt x="6316406" y="0"/>
                    <a:pt x="6328035" y="4817"/>
                    <a:pt x="6336609" y="13391"/>
                  </a:cubicBezTo>
                  <a:cubicBezTo>
                    <a:pt x="6345183" y="21965"/>
                    <a:pt x="6350000" y="33594"/>
                    <a:pt x="6350000" y="45720"/>
                  </a:cubicBezTo>
                  <a:lnTo>
                    <a:pt x="6350000" y="1732280"/>
                  </a:lnTo>
                  <a:cubicBezTo>
                    <a:pt x="6350000" y="1757531"/>
                    <a:pt x="6329530" y="1778000"/>
                    <a:pt x="6304280" y="1778000"/>
                  </a:cubicBezTo>
                  <a:lnTo>
                    <a:pt x="45720" y="1778000"/>
                  </a:lnTo>
                  <a:cubicBezTo>
                    <a:pt x="20470" y="1778000"/>
                    <a:pt x="0" y="1757531"/>
                    <a:pt x="0" y="1732280"/>
                  </a:cubicBezTo>
                  <a:lnTo>
                    <a:pt x="0" y="45720"/>
                  </a:lnTo>
                  <a:cubicBezTo>
                    <a:pt x="0" y="20470"/>
                    <a:pt x="20470" y="0"/>
                    <a:pt x="45720" y="0"/>
                  </a:cubicBezTo>
                  <a:close/>
                </a:path>
              </a:pathLst>
            </a:custGeom>
            <a:solidFill>
              <a:srgbClr val="D9468D"/>
            </a:solidFill>
            <a:ln cap="sq">
              <a:noFill/>
              <a:prstDash val="solid"/>
              <a:miter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0" y="19050"/>
              <a:ext cx="6350000" cy="17589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070"/>
                </a:lnSpc>
              </a:pPr>
              <a:r>
                <a:rPr lang="en-US" sz="1800" b="true">
                  <a:solidFill>
                    <a:srgbClr val="FFFFFF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SLACK</a:t>
              </a:r>
            </a:p>
          </p:txBody>
        </p:sp>
      </p:grpSp>
      <p:sp>
        <p:nvSpPr>
          <p:cNvPr name="AutoShape 10" id="10"/>
          <p:cNvSpPr/>
          <p:nvPr/>
        </p:nvSpPr>
        <p:spPr>
          <a:xfrm>
            <a:off x="3619500" y="5381625"/>
            <a:ext cx="0" cy="714375"/>
          </a:xfrm>
          <a:prstGeom prst="line">
            <a:avLst/>
          </a:prstGeom>
          <a:ln cap="flat" w="47625">
            <a:solidFill>
              <a:srgbClr val="D9468D"/>
            </a:solidFill>
            <a:prstDash val="solid"/>
            <a:headEnd type="none" len="sm" w="sm"/>
            <a:tailEnd type="arrow" len="sm" w="med"/>
          </a:ln>
        </p:spPr>
      </p:sp>
      <p:grpSp>
        <p:nvGrpSpPr>
          <p:cNvPr name="Group 11" id="11"/>
          <p:cNvGrpSpPr/>
          <p:nvPr/>
        </p:nvGrpSpPr>
        <p:grpSpPr>
          <a:xfrm rot="0">
            <a:off x="6858000" y="4381500"/>
            <a:ext cx="4762500" cy="1000125"/>
            <a:chOff x="0" y="0"/>
            <a:chExt cx="6350000" cy="13335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6350000" cy="1333500"/>
            </a:xfrm>
            <a:custGeom>
              <a:avLst/>
              <a:gdLst/>
              <a:ahLst/>
              <a:cxnLst/>
              <a:rect r="r" b="b" t="t" l="l"/>
              <a:pathLst>
                <a:path h="1333500" w="6350000">
                  <a:moveTo>
                    <a:pt x="45720" y="0"/>
                  </a:moveTo>
                  <a:lnTo>
                    <a:pt x="6304280" y="0"/>
                  </a:lnTo>
                  <a:cubicBezTo>
                    <a:pt x="6316406" y="0"/>
                    <a:pt x="6328035" y="4817"/>
                    <a:pt x="6336609" y="13391"/>
                  </a:cubicBezTo>
                  <a:cubicBezTo>
                    <a:pt x="6345183" y="21965"/>
                    <a:pt x="6350000" y="33594"/>
                    <a:pt x="6350000" y="45720"/>
                  </a:cubicBezTo>
                  <a:lnTo>
                    <a:pt x="6350000" y="1287780"/>
                  </a:lnTo>
                  <a:cubicBezTo>
                    <a:pt x="6350000" y="1313031"/>
                    <a:pt x="6329530" y="1333500"/>
                    <a:pt x="6304280" y="1333500"/>
                  </a:cubicBezTo>
                  <a:lnTo>
                    <a:pt x="45720" y="1333500"/>
                  </a:lnTo>
                  <a:cubicBezTo>
                    <a:pt x="20470" y="1333500"/>
                    <a:pt x="0" y="1313031"/>
                    <a:pt x="0" y="1287780"/>
                  </a:cubicBezTo>
                  <a:lnTo>
                    <a:pt x="0" y="45720"/>
                  </a:lnTo>
                  <a:cubicBezTo>
                    <a:pt x="0" y="20470"/>
                    <a:pt x="20470" y="0"/>
                    <a:pt x="45720" y="0"/>
                  </a:cubicBezTo>
                  <a:close/>
                </a:path>
              </a:pathLst>
            </a:custGeom>
            <a:solidFill>
              <a:srgbClr val="303858"/>
            </a:solidFill>
            <a:ln cap="sq">
              <a:noFill/>
              <a:prstDash val="solid"/>
              <a:miter/>
            </a:ln>
          </p:spPr>
        </p:sp>
        <p:sp>
          <p:nvSpPr>
            <p:cNvPr name="TextBox 13" id="13"/>
            <p:cNvSpPr txBox="true"/>
            <p:nvPr/>
          </p:nvSpPr>
          <p:spPr>
            <a:xfrm>
              <a:off x="0" y="19050"/>
              <a:ext cx="6350000" cy="13144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070"/>
                </a:lnSpc>
              </a:pPr>
              <a:r>
                <a:rPr lang="en-US" sz="1800" b="true">
                  <a:solidFill>
                    <a:srgbClr val="FFFFFF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CỘNG ĐỒNG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6858000" y="6191250"/>
            <a:ext cx="4762500" cy="1333500"/>
            <a:chOff x="0" y="0"/>
            <a:chExt cx="6350000" cy="17780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6350000" cy="1778000"/>
            </a:xfrm>
            <a:custGeom>
              <a:avLst/>
              <a:gdLst/>
              <a:ahLst/>
              <a:cxnLst/>
              <a:rect r="r" b="b" t="t" l="l"/>
              <a:pathLst>
                <a:path h="1778000" w="6350000">
                  <a:moveTo>
                    <a:pt x="45720" y="0"/>
                  </a:moveTo>
                  <a:lnTo>
                    <a:pt x="6304280" y="0"/>
                  </a:lnTo>
                  <a:cubicBezTo>
                    <a:pt x="6316406" y="0"/>
                    <a:pt x="6328035" y="4817"/>
                    <a:pt x="6336609" y="13391"/>
                  </a:cubicBezTo>
                  <a:cubicBezTo>
                    <a:pt x="6345183" y="21965"/>
                    <a:pt x="6350000" y="33594"/>
                    <a:pt x="6350000" y="45720"/>
                  </a:cubicBezTo>
                  <a:lnTo>
                    <a:pt x="6350000" y="1732280"/>
                  </a:lnTo>
                  <a:cubicBezTo>
                    <a:pt x="6350000" y="1757531"/>
                    <a:pt x="6329530" y="1778000"/>
                    <a:pt x="6304280" y="1778000"/>
                  </a:cubicBezTo>
                  <a:lnTo>
                    <a:pt x="45720" y="1778000"/>
                  </a:lnTo>
                  <a:cubicBezTo>
                    <a:pt x="20470" y="1778000"/>
                    <a:pt x="0" y="1757531"/>
                    <a:pt x="0" y="1732280"/>
                  </a:cubicBezTo>
                  <a:lnTo>
                    <a:pt x="0" y="45720"/>
                  </a:lnTo>
                  <a:cubicBezTo>
                    <a:pt x="0" y="20470"/>
                    <a:pt x="20470" y="0"/>
                    <a:pt x="45720" y="0"/>
                  </a:cubicBezTo>
                  <a:close/>
                </a:path>
              </a:pathLst>
            </a:custGeom>
            <a:solidFill>
              <a:srgbClr val="6857E5"/>
            </a:solidFill>
            <a:ln cap="sq">
              <a:noFill/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19050"/>
              <a:ext cx="6350000" cy="17589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070"/>
                </a:lnSpc>
              </a:pPr>
              <a:r>
                <a:rPr lang="en-US" sz="1800" b="true">
                  <a:solidFill>
                    <a:srgbClr val="FFFFFF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DISCORD</a:t>
              </a:r>
            </a:p>
          </p:txBody>
        </p:sp>
      </p:grpSp>
      <p:sp>
        <p:nvSpPr>
          <p:cNvPr name="AutoShape 17" id="17"/>
          <p:cNvSpPr/>
          <p:nvPr/>
        </p:nvSpPr>
        <p:spPr>
          <a:xfrm>
            <a:off x="9239250" y="5381625"/>
            <a:ext cx="0" cy="714375"/>
          </a:xfrm>
          <a:prstGeom prst="line">
            <a:avLst/>
          </a:prstGeom>
          <a:ln cap="flat" w="47625">
            <a:solidFill>
              <a:srgbClr val="6857E5"/>
            </a:solidFill>
            <a:prstDash val="solid"/>
            <a:headEnd type="none" len="sm" w="sm"/>
            <a:tailEnd type="arrow" len="sm" w="med"/>
          </a:ln>
        </p:spPr>
      </p:sp>
      <p:grpSp>
        <p:nvGrpSpPr>
          <p:cNvPr name="Group 18" id="18"/>
          <p:cNvGrpSpPr/>
          <p:nvPr/>
        </p:nvGrpSpPr>
        <p:grpSpPr>
          <a:xfrm rot="0">
            <a:off x="12477750" y="4381500"/>
            <a:ext cx="4762500" cy="1000125"/>
            <a:chOff x="0" y="0"/>
            <a:chExt cx="6350000" cy="13335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6350000" cy="1333500"/>
            </a:xfrm>
            <a:custGeom>
              <a:avLst/>
              <a:gdLst/>
              <a:ahLst/>
              <a:cxnLst/>
              <a:rect r="r" b="b" t="t" l="l"/>
              <a:pathLst>
                <a:path h="1333500" w="6350000">
                  <a:moveTo>
                    <a:pt x="45720" y="0"/>
                  </a:moveTo>
                  <a:lnTo>
                    <a:pt x="6304280" y="0"/>
                  </a:lnTo>
                  <a:cubicBezTo>
                    <a:pt x="6316406" y="0"/>
                    <a:pt x="6328035" y="4817"/>
                    <a:pt x="6336609" y="13391"/>
                  </a:cubicBezTo>
                  <a:cubicBezTo>
                    <a:pt x="6345183" y="21965"/>
                    <a:pt x="6350000" y="33594"/>
                    <a:pt x="6350000" y="45720"/>
                  </a:cubicBezTo>
                  <a:lnTo>
                    <a:pt x="6350000" y="1287780"/>
                  </a:lnTo>
                  <a:cubicBezTo>
                    <a:pt x="6350000" y="1313031"/>
                    <a:pt x="6329530" y="1333500"/>
                    <a:pt x="6304280" y="1333500"/>
                  </a:cubicBezTo>
                  <a:lnTo>
                    <a:pt x="45720" y="1333500"/>
                  </a:lnTo>
                  <a:cubicBezTo>
                    <a:pt x="20470" y="1333500"/>
                    <a:pt x="0" y="1313031"/>
                    <a:pt x="0" y="1287780"/>
                  </a:cubicBezTo>
                  <a:lnTo>
                    <a:pt x="0" y="45720"/>
                  </a:lnTo>
                  <a:cubicBezTo>
                    <a:pt x="0" y="20470"/>
                    <a:pt x="20470" y="0"/>
                    <a:pt x="45720" y="0"/>
                  </a:cubicBezTo>
                  <a:close/>
                </a:path>
              </a:pathLst>
            </a:custGeom>
            <a:solidFill>
              <a:srgbClr val="303858"/>
            </a:solidFill>
            <a:ln cap="sq">
              <a:noFill/>
              <a:prstDash val="solid"/>
              <a:miter/>
            </a:ln>
          </p:spPr>
        </p:sp>
        <p:sp>
          <p:nvSpPr>
            <p:cNvPr name="TextBox 20" id="20"/>
            <p:cNvSpPr txBox="true"/>
            <p:nvPr/>
          </p:nvSpPr>
          <p:spPr>
            <a:xfrm>
              <a:off x="0" y="19050"/>
              <a:ext cx="6350000" cy="13144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070"/>
                </a:lnSpc>
              </a:pPr>
              <a:r>
                <a:rPr lang="en-US" sz="1800" b="true">
                  <a:solidFill>
                    <a:srgbClr val="FFFFFF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GIÁO DỤC / TỔ CHỨC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12477750" y="6191250"/>
            <a:ext cx="4762500" cy="1333500"/>
            <a:chOff x="0" y="0"/>
            <a:chExt cx="6350000" cy="177800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6350000" cy="1778000"/>
            </a:xfrm>
            <a:custGeom>
              <a:avLst/>
              <a:gdLst/>
              <a:ahLst/>
              <a:cxnLst/>
              <a:rect r="r" b="b" t="t" l="l"/>
              <a:pathLst>
                <a:path h="1778000" w="6350000">
                  <a:moveTo>
                    <a:pt x="45720" y="0"/>
                  </a:moveTo>
                  <a:lnTo>
                    <a:pt x="6304280" y="0"/>
                  </a:lnTo>
                  <a:cubicBezTo>
                    <a:pt x="6316406" y="0"/>
                    <a:pt x="6328035" y="4817"/>
                    <a:pt x="6336609" y="13391"/>
                  </a:cubicBezTo>
                  <a:cubicBezTo>
                    <a:pt x="6345183" y="21965"/>
                    <a:pt x="6350000" y="33594"/>
                    <a:pt x="6350000" y="45720"/>
                  </a:cubicBezTo>
                  <a:lnTo>
                    <a:pt x="6350000" y="1732280"/>
                  </a:lnTo>
                  <a:cubicBezTo>
                    <a:pt x="6350000" y="1757531"/>
                    <a:pt x="6329530" y="1778000"/>
                    <a:pt x="6304280" y="1778000"/>
                  </a:cubicBezTo>
                  <a:lnTo>
                    <a:pt x="45720" y="1778000"/>
                  </a:lnTo>
                  <a:cubicBezTo>
                    <a:pt x="20470" y="1778000"/>
                    <a:pt x="0" y="1757531"/>
                    <a:pt x="0" y="1732280"/>
                  </a:cubicBezTo>
                  <a:lnTo>
                    <a:pt x="0" y="45720"/>
                  </a:lnTo>
                  <a:cubicBezTo>
                    <a:pt x="0" y="20470"/>
                    <a:pt x="20470" y="0"/>
                    <a:pt x="45720" y="0"/>
                  </a:cubicBezTo>
                  <a:close/>
                </a:path>
              </a:pathLst>
            </a:custGeom>
            <a:solidFill>
              <a:srgbClr val="4F7DF3"/>
            </a:solidFill>
            <a:ln cap="sq">
              <a:noFill/>
              <a:prstDash val="solid"/>
              <a:miter/>
            </a:ln>
          </p:spPr>
        </p:sp>
        <p:sp>
          <p:nvSpPr>
            <p:cNvPr name="TextBox 23" id="23"/>
            <p:cNvSpPr txBox="true"/>
            <p:nvPr/>
          </p:nvSpPr>
          <p:spPr>
            <a:xfrm>
              <a:off x="0" y="19050"/>
              <a:ext cx="6350000" cy="17589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070"/>
                </a:lnSpc>
              </a:pPr>
              <a:r>
                <a:rPr lang="en-US" sz="1800" b="true">
                  <a:solidFill>
                    <a:srgbClr val="FFFFFF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TEAMS</a:t>
              </a:r>
            </a:p>
          </p:txBody>
        </p:sp>
      </p:grpSp>
      <p:sp>
        <p:nvSpPr>
          <p:cNvPr name="AutoShape 24" id="24"/>
          <p:cNvSpPr/>
          <p:nvPr/>
        </p:nvSpPr>
        <p:spPr>
          <a:xfrm>
            <a:off x="14859000" y="5381625"/>
            <a:ext cx="0" cy="714375"/>
          </a:xfrm>
          <a:prstGeom prst="line">
            <a:avLst/>
          </a:prstGeom>
          <a:ln cap="flat" w="47625">
            <a:solidFill>
              <a:srgbClr val="4F7DF3"/>
            </a:solidFill>
            <a:prstDash val="solid"/>
            <a:headEnd type="none" len="sm" w="sm"/>
            <a:tailEnd type="arrow" len="sm" w="med"/>
          </a:ln>
        </p:spPr>
      </p:sp>
      <p:sp>
        <p:nvSpPr>
          <p:cNvPr name="TextBox 25" id="25"/>
          <p:cNvSpPr txBox="true"/>
          <p:nvPr/>
        </p:nvSpPr>
        <p:spPr>
          <a:xfrm rot="0">
            <a:off x="2857500" y="8524875"/>
            <a:ext cx="12573000" cy="3486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35"/>
              </a:lnSpc>
            </a:pPr>
            <a:r>
              <a:rPr lang="en-US" sz="2025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Cân nhắc đồng thời: tính năng  •  chi phí  •  văn hóa làm việc</a:t>
            </a:r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>
  <p:cSld>
    <p:bg>
      <p:bgPr>
        <a:solidFill>
          <a:srgbClr val="F7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52500" y="723900"/>
            <a:ext cx="14287500" cy="5996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98"/>
              </a:lnSpc>
            </a:pPr>
            <a:r>
              <a:rPr lang="en-US" sz="4350" b="true">
                <a:solidFill>
                  <a:srgbClr val="151A35"/>
                </a:solidFill>
                <a:latin typeface="Be Vietnam Ultra-Bold"/>
                <a:ea typeface="Be Vietnam Ultra-Bold"/>
                <a:cs typeface="Be Vietnam Ultra-Bold"/>
                <a:sym typeface="Be Vietnam Ultra-Bold"/>
              </a:rPr>
              <a:t>Tài liệu tham khảo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2381250" y="2438400"/>
            <a:ext cx="13525500" cy="3638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45"/>
              </a:lnSpc>
            </a:pPr>
            <a:r>
              <a:rPr lang="en-US" sz="2175">
                <a:solidFill>
                  <a:srgbClr val="151A35"/>
                </a:solidFill>
                <a:latin typeface="Open Sans"/>
                <a:ea typeface="Open Sans"/>
                <a:cs typeface="Open Sans"/>
                <a:sym typeface="Open Sans"/>
              </a:rPr>
              <a:t>01   Taskade — lịch sử và so sánh công cụ cộng tác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2381250" y="3629025"/>
            <a:ext cx="13525500" cy="3638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45"/>
              </a:lnSpc>
            </a:pPr>
            <a:r>
              <a:rPr lang="en-US" sz="2175">
                <a:solidFill>
                  <a:srgbClr val="151A35"/>
                </a:solidFill>
                <a:latin typeface="Open Sans"/>
                <a:ea typeface="Open Sans"/>
                <a:cs typeface="Open Sans"/>
                <a:sym typeface="Open Sans"/>
              </a:rPr>
              <a:t>02   HackerNoon — câu chuyện hình thành Slack và Discord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2381250" y="4819650"/>
            <a:ext cx="13525500" cy="3638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45"/>
              </a:lnSpc>
            </a:pPr>
            <a:r>
              <a:rPr lang="en-US" sz="2175">
                <a:solidFill>
                  <a:srgbClr val="151A35"/>
                </a:solidFill>
                <a:latin typeface="Open Sans"/>
                <a:ea typeface="Open Sans"/>
                <a:cs typeface="Open Sans"/>
                <a:sym typeface="Open Sans"/>
              </a:rPr>
              <a:t>03   Wikipedia — Slack, Discord, Microsoft Teams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2381250" y="6010275"/>
            <a:ext cx="13525500" cy="3638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45"/>
              </a:lnSpc>
            </a:pPr>
            <a:r>
              <a:rPr lang="en-US" sz="2175">
                <a:solidFill>
                  <a:srgbClr val="151A35"/>
                </a:solidFill>
                <a:latin typeface="Open Sans"/>
                <a:ea typeface="Open Sans"/>
                <a:cs typeface="Open Sans"/>
                <a:sym typeface="Open Sans"/>
              </a:rPr>
              <a:t>04   Trang chính thức Discord — tính năng và cộng đồng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2381250" y="7200900"/>
            <a:ext cx="13525500" cy="3638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45"/>
              </a:lnSpc>
            </a:pPr>
            <a:r>
              <a:rPr lang="en-US" sz="2175">
                <a:solidFill>
                  <a:srgbClr val="151A35"/>
                </a:solidFill>
                <a:latin typeface="Open Sans"/>
                <a:ea typeface="Open Sans"/>
                <a:cs typeface="Open Sans"/>
                <a:sym typeface="Open Sans"/>
              </a:rPr>
              <a:t>05   Trang chính thức Microsoft Teams — sản phẩm và vòng đời Skype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1524000" y="2190750"/>
            <a:ext cx="114300" cy="5953125"/>
            <a:chOff x="0" y="0"/>
            <a:chExt cx="152400" cy="79375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52400" cy="7937500"/>
            </a:xfrm>
            <a:custGeom>
              <a:avLst/>
              <a:gdLst/>
              <a:ahLst/>
              <a:cxnLst/>
              <a:rect r="r" b="b" t="t" l="l"/>
              <a:pathLst>
                <a:path h="79375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7937500"/>
                  </a:lnTo>
                  <a:lnTo>
                    <a:pt x="0" y="7937500"/>
                  </a:lnTo>
                  <a:close/>
                </a:path>
              </a:pathLst>
            </a:custGeom>
            <a:solidFill>
              <a:srgbClr val="7C5CFF"/>
            </a:solidFill>
            <a:ln cap="sq">
              <a:noFill/>
              <a:prstDash val="solid"/>
              <a:miter/>
            </a:ln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152400" cy="7975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2381250" y="8639175"/>
            <a:ext cx="8572500" cy="2652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26"/>
              </a:lnSpc>
            </a:pPr>
            <a:r>
              <a:rPr lang="en-US" sz="1575">
                <a:solidFill>
                  <a:srgbClr val="66708F"/>
                </a:solidFill>
                <a:latin typeface="Open Sans"/>
                <a:ea typeface="Open Sans"/>
                <a:cs typeface="Open Sans"/>
                <a:sym typeface="Open Sans"/>
              </a:rPr>
              <a:t>Truy cập và đối chiếu nguồn: 10/2026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DAHYVX4FWMo</dc:identifier>
  <dcterms:modified xsi:type="dcterms:W3CDTF">2011-08-01T06:04:30Z</dcterms:modified>
  <cp:revision>1</cp:revision>
  <dc:title>So sánh công cụ CNTT</dc:title>
</cp:coreProperties>
</file>