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  <p:sldId id="258" r:id="rId4"/>
    <p:sldId id="273" r:id="rId5"/>
    <p:sldId id="260" r:id="rId6"/>
    <p:sldId id="261" r:id="rId7"/>
    <p:sldId id="274" r:id="rId8"/>
    <p:sldId id="263" r:id="rId9"/>
    <p:sldId id="264" r:id="rId10"/>
    <p:sldId id="275" r:id="rId11"/>
    <p:sldId id="266" r:id="rId12"/>
    <p:sldId id="267" r:id="rId13"/>
    <p:sldId id="276" r:id="rId14"/>
    <p:sldId id="277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Open Sans Bold"/>
      <p:bold r:id="rId23"/>
    </p:embeddedFont>
    <p:embeddedFont>
      <p:font typeface="Be Vietnam Ultra-Bold" panose="00000900000000000000"/>
      <p:bold r:id="rId24"/>
    </p:embeddedFont>
    <p:embeddedFont>
      <p:font typeface="Open Sans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49000" y="0"/>
            <a:ext cx="7239000" cy="10287000"/>
          </a:xfrm>
          <a:custGeom>
            <a:avLst/>
            <a:gdLst/>
            <a:ahLst/>
            <a:cxnLst/>
            <a:rect l="l" t="t" r="r" b="b"/>
            <a:pathLst>
              <a:path w="7239000" h="10287000">
                <a:moveTo>
                  <a:pt x="0" y="0"/>
                </a:moveTo>
                <a:lnTo>
                  <a:pt x="7239000" y="0"/>
                </a:lnTo>
                <a:lnTo>
                  <a:pt x="7239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" r="-3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0">
            <a:off x="9048750" y="0"/>
            <a:ext cx="4762500" cy="10287000"/>
            <a:chOff x="0" y="0"/>
            <a:chExt cx="6350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13716000"/>
            </a:xfrm>
            <a:custGeom>
              <a:avLst/>
              <a:gdLst/>
              <a:ahLst/>
              <a:cxnLst/>
              <a:rect l="l" t="t" r="r" b="b"/>
              <a:pathLst>
                <a:path w="6350000" h="13716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B1026">
                    <a:alpha val="100000"/>
                  </a:srgbClr>
                </a:gs>
                <a:gs pos="100000">
                  <a:srgbClr val="0B1026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952500" y="1714500"/>
            <a:ext cx="1047750" cy="76200"/>
            <a:chOff x="0" y="0"/>
            <a:chExt cx="13970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7000" cy="101600"/>
            </a:xfrm>
            <a:custGeom>
              <a:avLst/>
              <a:gdLst/>
              <a:ahLst/>
              <a:cxnLst/>
              <a:rect l="l" t="t" r="r" b="b"/>
              <a:pathLst>
                <a:path w="1397000" h="1016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7C2E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2500" y="838200"/>
            <a:ext cx="933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66">
                <a:solidFill>
                  <a:srgbClr val="27C2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ĐẠI HỌC CẦN THƠ  •  TRƯỜNG CNTT &amp; TT</a:t>
            </a:r>
            <a:endParaRPr lang="en-US" sz="1650" b="1" spc="66">
              <a:solidFill>
                <a:srgbClr val="27C2E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2500" y="2019300"/>
            <a:ext cx="10096500" cy="159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58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Báo cáo Thực hành</a:t>
            </a:r>
            <a:endParaRPr lang="en-US" sz="58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  <a:p>
            <a:pPr algn="l">
              <a:lnSpc>
                <a:spcPts val="6200"/>
              </a:lnSpc>
            </a:pPr>
            <a:r>
              <a:rPr lang="en-US" sz="58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Kỹ năng số</a:t>
            </a:r>
            <a:endParaRPr lang="en-US" sz="58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2500" y="4086225"/>
            <a:ext cx="8858250" cy="91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50" b="1">
                <a:solidFill>
                  <a:srgbClr val="CBD5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Lịch sử, giao diện và phân tích so sánh</a:t>
            </a:r>
            <a:endParaRPr lang="en-US" sz="2850" b="1">
              <a:solidFill>
                <a:srgbClr val="CBD5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60"/>
              </a:lnSpc>
            </a:pPr>
            <a:r>
              <a:rPr lang="en-US" sz="2850" b="1">
                <a:solidFill>
                  <a:srgbClr val="CBD5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Discord, Slack và Microsoft Teams</a:t>
            </a:r>
            <a:endParaRPr lang="en-US" sz="2850" b="1">
              <a:solidFill>
                <a:srgbClr val="CBD5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9802" y="7558252"/>
            <a:ext cx="9090948" cy="102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5"/>
              </a:lnSpc>
            </a:pPr>
            <a:r>
              <a:rPr lang="en-US" sz="39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Minh Quang  và Quang Nhật</a:t>
            </a:r>
            <a:endParaRPr lang="en-US" sz="39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85"/>
              </a:lnSpc>
            </a:pPr>
            <a:r>
              <a:rPr lang="en-US" sz="18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18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Bối cảnh và mục tiêu phân tích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906000" y="2238375"/>
            <a:ext cx="7429500" cy="6572250"/>
          </a:xfrm>
          <a:custGeom>
            <a:avLst/>
            <a:gdLst/>
            <a:ahLst/>
            <a:cxnLst/>
            <a:rect l="l" t="t" r="r" b="b"/>
            <a:pathLst>
              <a:path w="7429500" h="6572250">
                <a:moveTo>
                  <a:pt x="0" y="0"/>
                </a:moveTo>
                <a:lnTo>
                  <a:pt x="7429500" y="0"/>
                </a:lnTo>
                <a:lnTo>
                  <a:pt x="74295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8" r="-48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952500" y="2438400"/>
            <a:ext cx="7524750" cy="154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34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Giao tiếp số đã trở thành hạ tầng của công việc, học tập và cộng đồng.</a:t>
            </a:r>
            <a:endParaRPr lang="en-US" sz="34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2500" y="5867400"/>
            <a:ext cx="2476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66">
                <a:solidFill>
                  <a:srgbClr val="7C5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MỤC TIÊU</a:t>
            </a:r>
            <a:endParaRPr lang="en-US" sz="1650" b="1" spc="66">
              <a:solidFill>
                <a:srgbClr val="7C5C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52500" y="6381750"/>
            <a:ext cx="7239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Đối chiếu lịch sử phát triển, tính năng cốt lõi và bối cảnh ứng dụng thực tế của ba nền tảng.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" grpId="0"/>
      <p:bldP spid="4" grpId="1"/>
      <p:bldP spid="5" grpId="1"/>
      <p:bldP spid="6" grpId="1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-17907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Bối cảnh và mục tiêu phân tích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8897600" y="2238375"/>
            <a:ext cx="7429500" cy="6572250"/>
          </a:xfrm>
          <a:custGeom>
            <a:avLst/>
            <a:gdLst/>
            <a:ahLst/>
            <a:cxnLst/>
            <a:rect l="l" t="t" r="r" b="b"/>
            <a:pathLst>
              <a:path w="7429500" h="6572250">
                <a:moveTo>
                  <a:pt x="0" y="0"/>
                </a:moveTo>
                <a:lnTo>
                  <a:pt x="7429500" y="0"/>
                </a:lnTo>
                <a:lnTo>
                  <a:pt x="74295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8" r="-48"/>
            </a:stretch>
          </a:blipFill>
          <a:ln cap="sq">
            <a:noFill/>
            <a:prstDash val="solid"/>
            <a:miter/>
          </a:ln>
        </p:spPr>
        <p:txBody>
          <a:bodyPr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52500" y="-4000500"/>
            <a:ext cx="7524750" cy="154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34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Giao tiếp số đã trở thành hạ tầng của công việc, học tập và cộng đồng.</a:t>
            </a:r>
            <a:endParaRPr lang="en-US" sz="34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3199765" y="5867400"/>
            <a:ext cx="2476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66">
                <a:solidFill>
                  <a:srgbClr val="7C5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MỤC TIÊU</a:t>
            </a:r>
            <a:endParaRPr lang="en-US" sz="1650" b="1" spc="66">
              <a:solidFill>
                <a:srgbClr val="7C5C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52500" y="11391900"/>
            <a:ext cx="7239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Đối chiếu lịch sử phát triển, tính năng cốt lõi và bối cảnh ứng dụng thực tế của ba nền tảng.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Ba nền tảng — ba điểm xuất phát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8" name="Group 3"/>
          <p:cNvGrpSpPr/>
          <p:nvPr/>
        </p:nvGrpSpPr>
        <p:grpSpPr>
          <a:xfrm rot="0">
            <a:off x="952500" y="2381250"/>
            <a:ext cx="4762500" cy="5334000"/>
            <a:chOff x="0" y="0"/>
            <a:chExt cx="6350000" cy="7112000"/>
          </a:xfrm>
        </p:grpSpPr>
        <p:grpSp>
          <p:nvGrpSpPr>
            <p:cNvPr id="9" name="Group 4"/>
            <p:cNvGrpSpPr/>
            <p:nvPr/>
          </p:nvGrpSpPr>
          <p:grpSpPr>
            <a:xfrm rot="0">
              <a:off x="0" y="0"/>
              <a:ext cx="6350000" cy="7112000"/>
              <a:chOff x="0" y="0"/>
              <a:chExt cx="6350000" cy="7112000"/>
            </a:xfrm>
          </p:grpSpPr>
          <p:sp>
            <p:nvSpPr>
              <p:cNvPr id="10" name="Freeform 5"/>
              <p:cNvSpPr/>
              <p:nvPr/>
            </p:nvSpPr>
            <p:spPr>
              <a:xfrm>
                <a:off x="0" y="0"/>
                <a:ext cx="63500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7112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9DEF2"/>
                </a:solidFill>
                <a:prstDash val="solid"/>
                <a:miter/>
              </a:ln>
            </p:spPr>
          </p:sp>
          <p:sp>
            <p:nvSpPr>
              <p:cNvPr id="11" name="TextBox 6"/>
              <p:cNvSpPr txBox="1"/>
              <p:nvPr/>
            </p:nvSpPr>
            <p:spPr>
              <a:xfrm>
                <a:off x="0" y="-38100"/>
                <a:ext cx="63500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id="12" name="TextBox 7"/>
            <p:cNvSpPr txBox="1"/>
            <p:nvPr/>
          </p:nvSpPr>
          <p:spPr>
            <a:xfrm>
              <a:off x="0" y="511175"/>
              <a:ext cx="1651000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6000" b="1">
                  <a:solidFill>
                    <a:srgbClr val="D9468D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S</a:t>
              </a:r>
              <a:endParaRPr lang="en-US" sz="6000" b="1">
                <a:solidFill>
                  <a:srgbClr val="D9468D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13" name="TextBox 8"/>
            <p:cNvSpPr txBox="1"/>
            <p:nvPr/>
          </p:nvSpPr>
          <p:spPr>
            <a:xfrm>
              <a:off x="0" y="2746375"/>
              <a:ext cx="6223000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 b="1">
                  <a:solidFill>
                    <a:srgbClr val="151A35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SLACK</a:t>
              </a:r>
              <a:endParaRPr lang="en-US" sz="27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0" y="3616325"/>
              <a:ext cx="6223000" cy="979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Doanh nghiệp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30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Tích hợp quy trình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roup 10"/>
          <p:cNvGrpSpPr/>
          <p:nvPr/>
        </p:nvGrpSpPr>
        <p:grpSpPr>
          <a:xfrm rot="0">
            <a:off x="6477000" y="2381250"/>
            <a:ext cx="4762500" cy="5334000"/>
            <a:chOff x="0" y="0"/>
            <a:chExt cx="6350000" cy="7112000"/>
          </a:xfrm>
        </p:grpSpPr>
        <p:grpSp>
          <p:nvGrpSpPr>
            <p:cNvPr id="16" name="Group 11"/>
            <p:cNvGrpSpPr/>
            <p:nvPr/>
          </p:nvGrpSpPr>
          <p:grpSpPr>
            <a:xfrm rot="0">
              <a:off x="0" y="0"/>
              <a:ext cx="6350000" cy="7112000"/>
              <a:chOff x="0" y="0"/>
              <a:chExt cx="6350000" cy="7112000"/>
            </a:xfrm>
          </p:grpSpPr>
          <p:sp>
            <p:nvSpPr>
              <p:cNvPr id="17" name="Freeform 12"/>
              <p:cNvSpPr/>
              <p:nvPr/>
            </p:nvSpPr>
            <p:spPr>
              <a:xfrm>
                <a:off x="0" y="0"/>
                <a:ext cx="63500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7112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9DEF2"/>
                </a:solidFill>
                <a:prstDash val="solid"/>
                <a:miter/>
              </a:ln>
            </p:spPr>
          </p:sp>
          <p:sp>
            <p:nvSpPr>
              <p:cNvPr id="18" name="TextBox 13"/>
              <p:cNvSpPr txBox="1"/>
              <p:nvPr/>
            </p:nvSpPr>
            <p:spPr>
              <a:xfrm>
                <a:off x="0" y="-38100"/>
                <a:ext cx="63500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id="19" name="TextBox 14"/>
            <p:cNvSpPr txBox="1"/>
            <p:nvPr/>
          </p:nvSpPr>
          <p:spPr>
            <a:xfrm>
              <a:off x="0" y="511175"/>
              <a:ext cx="1651000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6000" b="1">
                  <a:solidFill>
                    <a:srgbClr val="6857E5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D</a:t>
              </a:r>
              <a:endParaRPr lang="en-US" sz="6000" b="1">
                <a:solidFill>
                  <a:srgbClr val="6857E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20" name="TextBox 15"/>
            <p:cNvSpPr txBox="1"/>
            <p:nvPr/>
          </p:nvSpPr>
          <p:spPr>
            <a:xfrm>
              <a:off x="0" y="2746375"/>
              <a:ext cx="6223000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 b="1">
                  <a:solidFill>
                    <a:srgbClr val="151A35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DISCORD</a:t>
              </a:r>
              <a:endParaRPr lang="en-US" sz="27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21" name="TextBox 16"/>
            <p:cNvSpPr txBox="1"/>
            <p:nvPr/>
          </p:nvSpPr>
          <p:spPr>
            <a:xfrm>
              <a:off x="0" y="3616325"/>
              <a:ext cx="6223000" cy="979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Cộng đồng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30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Thoại, chat, server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" name="Group 17"/>
          <p:cNvGrpSpPr/>
          <p:nvPr/>
        </p:nvGrpSpPr>
        <p:grpSpPr>
          <a:xfrm rot="0">
            <a:off x="12001500" y="2381250"/>
            <a:ext cx="4762500" cy="5334000"/>
            <a:chOff x="0" y="0"/>
            <a:chExt cx="6350000" cy="7112000"/>
          </a:xfrm>
        </p:grpSpPr>
        <p:grpSp>
          <p:nvGrpSpPr>
            <p:cNvPr id="23" name="Group 18"/>
            <p:cNvGrpSpPr/>
            <p:nvPr/>
          </p:nvGrpSpPr>
          <p:grpSpPr>
            <a:xfrm rot="0">
              <a:off x="0" y="0"/>
              <a:ext cx="6350000" cy="7112000"/>
              <a:chOff x="0" y="0"/>
              <a:chExt cx="6350000" cy="7112000"/>
            </a:xfrm>
          </p:grpSpPr>
          <p:sp>
            <p:nvSpPr>
              <p:cNvPr id="24" name="Freeform 19"/>
              <p:cNvSpPr/>
              <p:nvPr/>
            </p:nvSpPr>
            <p:spPr>
              <a:xfrm>
                <a:off x="0" y="0"/>
                <a:ext cx="63500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7112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9DEF2"/>
                </a:solidFill>
                <a:prstDash val="solid"/>
                <a:miter/>
              </a:ln>
            </p:spPr>
          </p:sp>
          <p:sp>
            <p:nvSpPr>
              <p:cNvPr id="25" name="TextBox 20"/>
              <p:cNvSpPr txBox="1"/>
              <p:nvPr/>
            </p:nvSpPr>
            <p:spPr>
              <a:xfrm>
                <a:off x="0" y="-38100"/>
                <a:ext cx="63500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id="26" name="TextBox 21"/>
            <p:cNvSpPr txBox="1"/>
            <p:nvPr/>
          </p:nvSpPr>
          <p:spPr>
            <a:xfrm>
              <a:off x="0" y="511175"/>
              <a:ext cx="1651000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6000" b="1">
                  <a:solidFill>
                    <a:srgbClr val="4F7DF3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T</a:t>
              </a:r>
              <a:endParaRPr lang="en-US" sz="6000" b="1">
                <a:solidFill>
                  <a:srgbClr val="4F7DF3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27" name="TextBox 22"/>
            <p:cNvSpPr txBox="1"/>
            <p:nvPr/>
          </p:nvSpPr>
          <p:spPr>
            <a:xfrm>
              <a:off x="0" y="2746375"/>
              <a:ext cx="6223000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 b="1">
                  <a:solidFill>
                    <a:srgbClr val="151A35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TEAMS</a:t>
              </a:r>
              <a:endParaRPr lang="en-US" sz="27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28" name="TextBox 23"/>
            <p:cNvSpPr txBox="1"/>
            <p:nvPr/>
          </p:nvSpPr>
          <p:spPr>
            <a:xfrm>
              <a:off x="0" y="3616325"/>
              <a:ext cx="6223000" cy="979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Tổ chức lớn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30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Office &amp; họp trực tuyến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Slack bắt đầu từ một trò chơi thất bại</a:t>
            </a:r>
            <a:endParaRPr lang="en-US" sz="43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714500" y="5810250"/>
            <a:ext cx="14668500" cy="0"/>
          </a:xfrm>
          <a:prstGeom prst="line">
            <a:avLst/>
          </a:prstGeom>
          <a:ln w="47625" cap="rnd">
            <a:solidFill>
              <a:srgbClr val="49507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0">
            <a:off x="2476500" y="5667375"/>
            <a:ext cx="285750" cy="285750"/>
            <a:chOff x="0" y="0"/>
            <a:chExt cx="381000" cy="38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D9468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096250" y="5667375"/>
            <a:ext cx="285750" cy="285750"/>
            <a:chOff x="0" y="0"/>
            <a:chExt cx="381000" cy="38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D9468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13811250" y="5667375"/>
            <a:ext cx="285750" cy="285750"/>
            <a:chOff x="0" y="0"/>
            <a:chExt cx="381000" cy="38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D9468D"/>
            </a:solidFill>
            <a:ln cap="sq">
              <a:noFill/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38250" y="4286250"/>
            <a:ext cx="24765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2009</a:t>
            </a:r>
            <a:endParaRPr lang="en-US" sz="22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2000" y="635317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Tiny Speck phát triển Glitch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58000" y="4286250"/>
            <a:ext cx="24765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BƯỚC NGOẶT</a:t>
            </a:r>
            <a:endParaRPr lang="en-US" sz="22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381750" y="6353175"/>
            <a:ext cx="34290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Công cụ chat nội bộ dựa trên IRC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573000" y="4286250"/>
            <a:ext cx="24765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2013</a:t>
            </a:r>
            <a:endParaRPr lang="en-US" sz="22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096750" y="635317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Slack chính thức ra mắt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Từ công cụ nội bộ đến thương vụ 27,7 tỷ USD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78" y="1561948"/>
            <a:ext cx="11957606" cy="802035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001500" y="2752725"/>
            <a:ext cx="447675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b="1">
                <a:solidFill>
                  <a:srgbClr val="D9468D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2019</a:t>
            </a:r>
            <a:endParaRPr lang="en-US" sz="5250" b="1">
              <a:solidFill>
                <a:srgbClr val="D9468D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001500" y="3667125"/>
            <a:ext cx="4476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Niêm yết trực tiếp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001500" y="5514975"/>
            <a:ext cx="447675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b="1">
                <a:solidFill>
                  <a:srgbClr val="7C5C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2020</a:t>
            </a:r>
            <a:endParaRPr lang="en-US" sz="5250" b="1">
              <a:solidFill>
                <a:srgbClr val="7C5C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01500" y="6448425"/>
            <a:ext cx="4762500" cy="76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23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Salesforce mua lại</a:t>
            </a:r>
            <a:endParaRPr lang="en-US" sz="2325" b="1">
              <a:solidFill>
                <a:srgbClr val="151A35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020"/>
              </a:lnSpc>
            </a:pPr>
            <a:r>
              <a:rPr lang="en-US" sz="23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27,7 tỷ USD</a:t>
            </a:r>
            <a:endParaRPr lang="en-US" sz="2325" b="1">
              <a:solidFill>
                <a:srgbClr val="151A35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-9525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Từ công cụ nội bộ đến thương vụ 27,7 tỷ USD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78" y="11391748"/>
            <a:ext cx="11957606" cy="802035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278600" y="2752725"/>
            <a:ext cx="447675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b="1">
                <a:solidFill>
                  <a:srgbClr val="D9468D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2019</a:t>
            </a:r>
            <a:endParaRPr lang="en-US" sz="5250" b="1">
              <a:solidFill>
                <a:srgbClr val="D9468D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278600" y="3667125"/>
            <a:ext cx="4476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Niêm yết trực tiếp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278600" y="5514975"/>
            <a:ext cx="447675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b="1">
                <a:solidFill>
                  <a:srgbClr val="7C5C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2020</a:t>
            </a:r>
            <a:endParaRPr lang="en-US" sz="5250" b="1">
              <a:solidFill>
                <a:srgbClr val="7C5C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278600" y="6448425"/>
            <a:ext cx="4762500" cy="76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23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Salesforce mua lại</a:t>
            </a:r>
            <a:endParaRPr lang="en-US" sz="2325" b="1">
              <a:solidFill>
                <a:srgbClr val="151A35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020"/>
              </a:lnSpc>
            </a:pPr>
            <a:r>
              <a:rPr lang="en-US" sz="23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27,7 tỷ USD</a:t>
            </a:r>
            <a:endParaRPr lang="en-US" sz="2325" b="1">
              <a:solidFill>
                <a:srgbClr val="151A35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Slack chuẩn hóa không gian làm việc số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9" name="Group 3"/>
          <p:cNvGrpSpPr/>
          <p:nvPr/>
        </p:nvGrpSpPr>
        <p:grpSpPr>
          <a:xfrm rot="0">
            <a:off x="11144250" y="2667000"/>
            <a:ext cx="4953000" cy="1000125"/>
            <a:chOff x="0" y="0"/>
            <a:chExt cx="6604000" cy="1333500"/>
          </a:xfrm>
        </p:grpSpPr>
        <p:sp>
          <p:nvSpPr>
            <p:cNvPr id="10" name="Freeform 4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1289538"/>
                  </a:lnTo>
                  <a:cubicBezTo>
                    <a:pt x="6604000" y="1301198"/>
                    <a:pt x="6599368" y="1312380"/>
                    <a:pt x="6591124" y="1320624"/>
                  </a:cubicBezTo>
                  <a:cubicBezTo>
                    <a:pt x="6582880" y="1328868"/>
                    <a:pt x="6571698" y="1333500"/>
                    <a:pt x="6560038" y="1333500"/>
                  </a:cubicBezTo>
                  <a:lnTo>
                    <a:pt x="43962" y="1333500"/>
                  </a:lnTo>
                  <a:cubicBezTo>
                    <a:pt x="32302" y="1333500"/>
                    <a:pt x="21120" y="1328868"/>
                    <a:pt x="12876" y="1320624"/>
                  </a:cubicBezTo>
                  <a:cubicBezTo>
                    <a:pt x="4632" y="1312380"/>
                    <a:pt x="0" y="1301198"/>
                    <a:pt x="0" y="12895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D9468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5"/>
            <p:cNvSpPr txBox="1"/>
            <p:nvPr/>
          </p:nvSpPr>
          <p:spPr>
            <a:xfrm>
              <a:off x="0" y="19050"/>
              <a:ext cx="6604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KÊNH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2" name="Group 6"/>
          <p:cNvGrpSpPr/>
          <p:nvPr/>
        </p:nvGrpSpPr>
        <p:grpSpPr>
          <a:xfrm rot="0">
            <a:off x="11144250" y="4048125"/>
            <a:ext cx="4953000" cy="1000125"/>
            <a:chOff x="0" y="0"/>
            <a:chExt cx="6604000" cy="1333500"/>
          </a:xfrm>
        </p:grpSpPr>
        <p:sp>
          <p:nvSpPr>
            <p:cNvPr id="13" name="Freeform 7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1289538"/>
                  </a:lnTo>
                  <a:cubicBezTo>
                    <a:pt x="6604000" y="1301198"/>
                    <a:pt x="6599368" y="1312380"/>
                    <a:pt x="6591124" y="1320624"/>
                  </a:cubicBezTo>
                  <a:cubicBezTo>
                    <a:pt x="6582880" y="1328868"/>
                    <a:pt x="6571698" y="1333500"/>
                    <a:pt x="6560038" y="1333500"/>
                  </a:cubicBezTo>
                  <a:lnTo>
                    <a:pt x="43962" y="1333500"/>
                  </a:lnTo>
                  <a:cubicBezTo>
                    <a:pt x="32302" y="1333500"/>
                    <a:pt x="21120" y="1328868"/>
                    <a:pt x="12876" y="1320624"/>
                  </a:cubicBezTo>
                  <a:cubicBezTo>
                    <a:pt x="4632" y="1312380"/>
                    <a:pt x="0" y="1301198"/>
                    <a:pt x="0" y="12895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7C5C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8"/>
            <p:cNvSpPr txBox="1"/>
            <p:nvPr/>
          </p:nvSpPr>
          <p:spPr>
            <a:xfrm>
              <a:off x="0" y="19050"/>
              <a:ext cx="6604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TÍCH HỢP APP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5" name="Group 9"/>
          <p:cNvGrpSpPr/>
          <p:nvPr/>
        </p:nvGrpSpPr>
        <p:grpSpPr>
          <a:xfrm rot="0">
            <a:off x="11144250" y="5429250"/>
            <a:ext cx="4953000" cy="1000125"/>
            <a:chOff x="0" y="0"/>
            <a:chExt cx="6604000" cy="1333500"/>
          </a:xfrm>
        </p:grpSpPr>
        <p:sp>
          <p:nvSpPr>
            <p:cNvPr id="16" name="Freeform 10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1289538"/>
                  </a:lnTo>
                  <a:cubicBezTo>
                    <a:pt x="6604000" y="1301198"/>
                    <a:pt x="6599368" y="1312380"/>
                    <a:pt x="6591124" y="1320624"/>
                  </a:cubicBezTo>
                  <a:cubicBezTo>
                    <a:pt x="6582880" y="1328868"/>
                    <a:pt x="6571698" y="1333500"/>
                    <a:pt x="6560038" y="1333500"/>
                  </a:cubicBezTo>
                  <a:lnTo>
                    <a:pt x="43962" y="1333500"/>
                  </a:lnTo>
                  <a:cubicBezTo>
                    <a:pt x="32302" y="1333500"/>
                    <a:pt x="21120" y="1328868"/>
                    <a:pt x="12876" y="1320624"/>
                  </a:cubicBezTo>
                  <a:cubicBezTo>
                    <a:pt x="4632" y="1312380"/>
                    <a:pt x="0" y="1301198"/>
                    <a:pt x="0" y="12895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1"/>
            <p:cNvSpPr txBox="1"/>
            <p:nvPr/>
          </p:nvSpPr>
          <p:spPr>
            <a:xfrm>
              <a:off x="0" y="19050"/>
              <a:ext cx="6604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TỆP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8" name="Group 12"/>
          <p:cNvGrpSpPr/>
          <p:nvPr/>
        </p:nvGrpSpPr>
        <p:grpSpPr>
          <a:xfrm rot="0">
            <a:off x="11144250" y="6810375"/>
            <a:ext cx="4953000" cy="1000125"/>
            <a:chOff x="0" y="0"/>
            <a:chExt cx="6604000" cy="1333500"/>
          </a:xfrm>
        </p:grpSpPr>
        <p:sp>
          <p:nvSpPr>
            <p:cNvPr id="19" name="Freeform 13"/>
            <p:cNvSpPr/>
            <p:nvPr/>
          </p:nvSpPr>
          <p:spPr>
            <a:xfrm>
              <a:off x="0" y="0"/>
              <a:ext cx="6604000" cy="1333500"/>
            </a:xfrm>
            <a:custGeom>
              <a:avLst/>
              <a:gdLst/>
              <a:ahLst/>
              <a:cxnLst/>
              <a:rect l="l" t="t" r="r" b="b"/>
              <a:pathLst>
                <a:path w="6604000" h="13335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1289538"/>
                  </a:lnTo>
                  <a:cubicBezTo>
                    <a:pt x="6604000" y="1301198"/>
                    <a:pt x="6599368" y="1312380"/>
                    <a:pt x="6591124" y="1320624"/>
                  </a:cubicBezTo>
                  <a:cubicBezTo>
                    <a:pt x="6582880" y="1328868"/>
                    <a:pt x="6571698" y="1333500"/>
                    <a:pt x="6560038" y="1333500"/>
                  </a:cubicBezTo>
                  <a:lnTo>
                    <a:pt x="43962" y="1333500"/>
                  </a:lnTo>
                  <a:cubicBezTo>
                    <a:pt x="32302" y="1333500"/>
                    <a:pt x="21120" y="1328868"/>
                    <a:pt x="12876" y="1320624"/>
                  </a:cubicBezTo>
                  <a:cubicBezTo>
                    <a:pt x="4632" y="1312380"/>
                    <a:pt x="0" y="1301198"/>
                    <a:pt x="0" y="12895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27C2E8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14"/>
            <p:cNvSpPr txBox="1"/>
            <p:nvPr/>
          </p:nvSpPr>
          <p:spPr>
            <a:xfrm>
              <a:off x="0" y="19050"/>
              <a:ext cx="6604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TÌM KIẾM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Discord: xây cộng đồng từ nhu cầu của game thủ</a:t>
            </a:r>
            <a:endParaRPr lang="en-US" sz="43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0" y="2095500"/>
            <a:ext cx="6858000" cy="6667500"/>
          </a:xfrm>
          <a:custGeom>
            <a:avLst/>
            <a:gdLst/>
            <a:ahLst/>
            <a:cxnLst/>
            <a:rect l="l" t="t" r="r" b="b"/>
            <a:pathLst>
              <a:path w="6858000" h="6667500">
                <a:moveTo>
                  <a:pt x="0" y="0"/>
                </a:moveTo>
                <a:lnTo>
                  <a:pt x="6858000" y="0"/>
                </a:lnTo>
                <a:lnTo>
                  <a:pt x="6858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4" b="-14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952500" y="2162175"/>
            <a:ext cx="4762500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0"/>
              </a:lnSpc>
            </a:pPr>
            <a:r>
              <a:rPr lang="en-US" sz="11250" b="1">
                <a:solidFill>
                  <a:srgbClr val="6857E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2015</a:t>
            </a:r>
            <a:endParaRPr lang="en-US" sz="11250" b="1">
              <a:solidFill>
                <a:srgbClr val="6857E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2500" y="4410075"/>
            <a:ext cx="61912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Hammer &amp; Chisel</a:t>
            </a:r>
            <a:endParaRPr lang="en-US" sz="300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52500" y="5191125"/>
            <a:ext cx="7810500" cy="105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Sau Fates Forever không thành công, Jason Citron và Stanislav Vishnevskiy tập trung vào một trải nghiệm thoại &amp; chat mượt hơn cho cộng đồng game.</a:t>
            </a: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2020: từ game thủ đến mọi cộng đồng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8286750" y="2190750"/>
            <a:ext cx="9048750" cy="6858000"/>
          </a:xfrm>
          <a:custGeom>
            <a:avLst/>
            <a:gdLst/>
            <a:ahLst/>
            <a:cxnLst/>
            <a:rect l="l" t="t" r="r" b="b"/>
            <a:pathLst>
              <a:path w="9048750" h="6858000">
                <a:moveTo>
                  <a:pt x="0" y="0"/>
                </a:moveTo>
                <a:lnTo>
                  <a:pt x="9048750" y="0"/>
                </a:lnTo>
                <a:lnTo>
                  <a:pt x="90487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" r="-26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952500" y="2876550"/>
            <a:ext cx="6191250" cy="9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31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“Nơi để trò chuyện”</a:t>
            </a:r>
            <a:endParaRPr lang="en-US" sz="31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  <a:p>
            <a:pPr algn="l">
              <a:lnSpc>
                <a:spcPts val="3530"/>
              </a:lnSpc>
            </a:pPr>
            <a:r>
              <a:rPr lang="en-US" sz="31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không còn giới hạn trong game.</a:t>
            </a:r>
            <a:endParaRPr lang="en-US" sz="31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2500" y="6143625"/>
            <a:ext cx="6000750" cy="105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Nhiều vòng gọi vốn tạo đà tăng trưởng; định vị mới mở rộng đối tượng nhưng vẫn giữ cấu trúc server và kênh làm lõi.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-3009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2020: từ game thủ đến mọi cộng đồng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8440400" y="2190750"/>
            <a:ext cx="9048750" cy="6858000"/>
          </a:xfrm>
          <a:custGeom>
            <a:avLst/>
            <a:gdLst/>
            <a:ahLst/>
            <a:cxnLst/>
            <a:rect l="l" t="t" r="r" b="b"/>
            <a:pathLst>
              <a:path w="9048750" h="6858000">
                <a:moveTo>
                  <a:pt x="0" y="0"/>
                </a:moveTo>
                <a:lnTo>
                  <a:pt x="9048750" y="0"/>
                </a:lnTo>
                <a:lnTo>
                  <a:pt x="90487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" r="-26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-6553200" y="2876550"/>
            <a:ext cx="6191250" cy="9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31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“Nơi để trò chuyện”</a:t>
            </a:r>
            <a:endParaRPr lang="en-US" sz="31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  <a:p>
            <a:pPr algn="l">
              <a:lnSpc>
                <a:spcPts val="3530"/>
              </a:lnSpc>
            </a:pPr>
            <a:r>
              <a:rPr lang="en-US" sz="31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không còn giới hạn trong game.</a:t>
            </a:r>
            <a:endParaRPr lang="en-US" sz="31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6553200" y="6143625"/>
            <a:ext cx="6000750" cy="105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Nhiều vòng gọi vốn tạo đà tăng trưởng; định vị mới mở rộng đối tượng nhưng vẫn giữ cấu trúc server và kênh làm lõi.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Một hệ sinh thái sống theo thời gian thực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52500" y="2667000"/>
            <a:ext cx="64770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1  Kênh thoại &amp; chat</a:t>
            </a:r>
            <a:endParaRPr lang="en-US" sz="240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952500" y="4048125"/>
            <a:ext cx="64770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6857E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  Bot và tự động hóa</a:t>
            </a:r>
            <a:endParaRPr lang="en-US" sz="2400" b="1">
              <a:solidFill>
                <a:srgbClr val="6857E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952500" y="5429250"/>
            <a:ext cx="64770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3  Chia sẻ đa phương tiện</a:t>
            </a:r>
            <a:endParaRPr lang="en-US" sz="240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952500" y="6810375"/>
            <a:ext cx="64770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6857E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4  Nitro &amp; server đa dạng</a:t>
            </a:r>
            <a:endParaRPr lang="en-US" sz="2400" b="1">
              <a:solidFill>
                <a:srgbClr val="6857E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1" name="Freeform 7"/>
          <p:cNvSpPr/>
          <p:nvPr/>
        </p:nvSpPr>
        <p:spPr>
          <a:xfrm>
            <a:off x="8572500" y="238125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3000" y="0"/>
                </a:lnTo>
                <a:lnTo>
                  <a:pt x="87630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" r="-25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Teams đi vào thị trường bằng sức mạnh tích hợp</a:t>
            </a:r>
            <a:endParaRPr lang="en-US" sz="43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95500" y="5810250"/>
            <a:ext cx="13906500" cy="0"/>
          </a:xfrm>
          <a:prstGeom prst="line">
            <a:avLst/>
          </a:prstGeom>
          <a:ln w="47625" cap="rnd">
            <a:solidFill>
              <a:srgbClr val="4B537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0">
            <a:off x="3714750" y="5638800"/>
            <a:ext cx="285750" cy="285750"/>
            <a:chOff x="0" y="0"/>
            <a:chExt cx="381000" cy="38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4F7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10001250" y="5638800"/>
            <a:ext cx="285750" cy="285750"/>
            <a:chOff x="0" y="0"/>
            <a:chExt cx="381000" cy="38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27C2E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15049500" y="5638800"/>
            <a:ext cx="285750" cy="285750"/>
            <a:chOff x="0" y="0"/>
            <a:chExt cx="381000" cy="38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295710" y="0"/>
                    <a:pt x="381000" y="85290"/>
                    <a:pt x="381000" y="190500"/>
                  </a:cubicBezTo>
                  <a:cubicBezTo>
                    <a:pt x="381000" y="295710"/>
                    <a:pt x="295710" y="381000"/>
                    <a:pt x="190500" y="381000"/>
                  </a:cubicBez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C5C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2190750" y="3228975"/>
            <a:ext cx="304800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2016</a:t>
            </a:r>
            <a:endParaRPr lang="en-US" sz="52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90750" y="6381750"/>
            <a:ext cx="3048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Công bố</a:t>
            </a: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91500" y="3228975"/>
            <a:ext cx="361950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14/3/2017</a:t>
            </a:r>
            <a:endParaRPr lang="en-US" sz="52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96250" y="6381750"/>
            <a:ext cx="3810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 mắt toàn cầu</a:t>
            </a: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620750" y="3409950"/>
            <a:ext cx="28575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150" b="1">
                <a:solidFill>
                  <a:srgbClr val="27C2E8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OFFICE 365</a:t>
            </a:r>
            <a:endParaRPr lang="en-US" sz="3150" b="1">
              <a:solidFill>
                <a:srgbClr val="27C2E8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525500" y="6381750"/>
            <a:ext cx="3048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Tích hợp sâu</a:t>
            </a: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Cạnh tranh trực tiếp — mở rộng sang giáo dục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9334500" y="2190750"/>
            <a:ext cx="28575" cy="4762500"/>
            <a:chOff x="0" y="0"/>
            <a:chExt cx="381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100" cy="6350000"/>
            </a:xfrm>
            <a:custGeom>
              <a:avLst/>
              <a:gdLst/>
              <a:ahLst/>
              <a:cxnLst/>
              <a:rect l="l" t="t" r="r" b="b"/>
              <a:pathLst>
                <a:path w="38100" h="6350000">
                  <a:moveTo>
                    <a:pt x="0" y="0"/>
                  </a:moveTo>
                  <a:lnTo>
                    <a:pt x="38100" y="0"/>
                  </a:lnTo>
                  <a:lnTo>
                    <a:pt x="381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D9DEF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1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96250" y="3562350"/>
            <a:ext cx="2095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7C5C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VS</a:t>
            </a:r>
            <a:endParaRPr lang="en-US" sz="7500" b="1">
              <a:solidFill>
                <a:srgbClr val="7C5C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9250" y="2752725"/>
            <a:ext cx="523875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D9468D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SLACK</a:t>
            </a:r>
            <a:endParaRPr lang="en-US" sz="5400" b="1">
              <a:solidFill>
                <a:srgbClr val="D9468D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9250" y="4429125"/>
            <a:ext cx="523875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Hệ sinh thái tích hợp mở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Trải nghiệm chat ưu tiên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30000" y="2752725"/>
            <a:ext cx="523875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4F7DF3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TEAMS</a:t>
            </a:r>
            <a:endParaRPr lang="en-US" sz="5400" b="1">
              <a:solidFill>
                <a:srgbClr val="4F7DF3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0" y="4429125"/>
            <a:ext cx="523875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Office, họp và quản trị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Dần thay Microsoft Classroom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714750" y="7572375"/>
            <a:ext cx="1085850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5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Giáo dục trở thành một lợi thế phân phối quan trọng.</a:t>
            </a:r>
            <a:endParaRPr lang="en-US" sz="25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-1304925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Cạnh tranh trực tiếp — mở rộng sang giáo dục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9334500" y="-6105525"/>
            <a:ext cx="28575" cy="4762500"/>
            <a:chOff x="0" y="0"/>
            <a:chExt cx="381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100" cy="6350000"/>
            </a:xfrm>
            <a:custGeom>
              <a:avLst/>
              <a:gdLst/>
              <a:ahLst/>
              <a:cxnLst/>
              <a:rect l="l" t="t" r="r" b="b"/>
              <a:pathLst>
                <a:path w="38100" h="6350000">
                  <a:moveTo>
                    <a:pt x="0" y="0"/>
                  </a:moveTo>
                  <a:lnTo>
                    <a:pt x="38100" y="0"/>
                  </a:lnTo>
                  <a:lnTo>
                    <a:pt x="381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D9DEF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1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96250" y="-4733925"/>
            <a:ext cx="2095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7C5C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VS</a:t>
            </a:r>
            <a:endParaRPr lang="en-US" sz="7500" b="1">
              <a:solidFill>
                <a:srgbClr val="7C5C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6172200" y="2752725"/>
            <a:ext cx="523875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D9468D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SLACK</a:t>
            </a:r>
            <a:endParaRPr lang="en-US" sz="5400" b="1">
              <a:solidFill>
                <a:srgbClr val="D9468D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6172200" y="4429125"/>
            <a:ext cx="523875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Hệ sinh thái tích hợp mở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Trải nghiệm chat ưu tiên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050000" y="2752725"/>
            <a:ext cx="523875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4F7DF3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TEAMS</a:t>
            </a:r>
            <a:endParaRPr lang="en-US" sz="5400" b="1">
              <a:solidFill>
                <a:srgbClr val="4F7DF3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050000" y="4429125"/>
            <a:ext cx="523875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Office, họp và quản trị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Dần thay Microsoft Classroom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714750" y="11316335"/>
            <a:ext cx="1085850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5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Giáo dục trở thành một lợi thế phân phối quan trọng.</a:t>
            </a:r>
            <a:endParaRPr lang="en-US" sz="25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Từ Skype for Business đến Microsoft Teams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13" name="Group 3"/>
          <p:cNvGrpSpPr/>
          <p:nvPr/>
        </p:nvGrpSpPr>
        <p:grpSpPr>
          <a:xfrm rot="0">
            <a:off x="1428750" y="3238500"/>
            <a:ext cx="4762500" cy="2000250"/>
            <a:chOff x="0" y="0"/>
            <a:chExt cx="6350000" cy="2667000"/>
          </a:xfrm>
        </p:grpSpPr>
        <p:sp>
          <p:nvSpPr>
            <p:cNvPr id="14" name="Freeform 4"/>
            <p:cNvSpPr/>
            <p:nvPr/>
          </p:nvSpPr>
          <p:spPr>
            <a:xfrm>
              <a:off x="0" y="0"/>
              <a:ext cx="6350000" cy="2667000"/>
            </a:xfrm>
            <a:custGeom>
              <a:avLst/>
              <a:gdLst/>
              <a:ahLst/>
              <a:cxnLst/>
              <a:rect l="l" t="t" r="r" b="b"/>
              <a:pathLst>
                <a:path w="6350000" h="2667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54A9E8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5"/>
            <p:cNvSpPr txBox="1"/>
            <p:nvPr/>
          </p:nvSpPr>
          <p:spPr>
            <a:xfrm>
              <a:off x="0" y="19050"/>
              <a:ext cx="6350000" cy="264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SKYPE FOR BUSINESS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6" name="Group 6"/>
          <p:cNvGrpSpPr/>
          <p:nvPr/>
        </p:nvGrpSpPr>
        <p:grpSpPr>
          <a:xfrm rot="0">
            <a:off x="12096750" y="3238500"/>
            <a:ext cx="4762500" cy="2000250"/>
            <a:chOff x="0" y="0"/>
            <a:chExt cx="6350000" cy="2667000"/>
          </a:xfrm>
        </p:grpSpPr>
        <p:sp>
          <p:nvSpPr>
            <p:cNvPr id="17" name="Freeform 7"/>
            <p:cNvSpPr/>
            <p:nvPr/>
          </p:nvSpPr>
          <p:spPr>
            <a:xfrm>
              <a:off x="0" y="0"/>
              <a:ext cx="6350000" cy="2667000"/>
            </a:xfrm>
            <a:custGeom>
              <a:avLst/>
              <a:gdLst/>
              <a:ahLst/>
              <a:cxnLst/>
              <a:rect l="l" t="t" r="r" b="b"/>
              <a:pathLst>
                <a:path w="6350000" h="2667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4F7DF3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8"/>
            <p:cNvSpPr txBox="1"/>
            <p:nvPr/>
          </p:nvSpPr>
          <p:spPr>
            <a:xfrm>
              <a:off x="0" y="19050"/>
              <a:ext cx="6350000" cy="264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MICROSOFT TEAMS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9" name="AutoShape 9"/>
          <p:cNvSpPr/>
          <p:nvPr/>
        </p:nvSpPr>
        <p:spPr>
          <a:xfrm>
            <a:off x="6572250" y="4238625"/>
            <a:ext cx="5143500" cy="0"/>
          </a:xfrm>
          <a:prstGeom prst="line">
            <a:avLst/>
          </a:prstGeom>
          <a:ln w="76200" cap="rnd">
            <a:solidFill>
              <a:srgbClr val="7C5C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TextBox 10"/>
          <p:cNvSpPr txBox="1"/>
          <p:nvPr/>
        </p:nvSpPr>
        <p:spPr>
          <a:xfrm>
            <a:off x="7239000" y="3095625"/>
            <a:ext cx="3810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1">
                <a:solidFill>
                  <a:srgbClr val="7C5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Chuyển đổi nền tảng</a:t>
            </a:r>
            <a:endParaRPr lang="en-US" sz="2025" b="1">
              <a:solidFill>
                <a:srgbClr val="7C5C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5334000" y="6543675"/>
            <a:ext cx="7620000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05.05.2025</a:t>
            </a:r>
            <a:endParaRPr lang="en-US" sz="720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4857750" y="7810500"/>
            <a:ext cx="8572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Skype for Business chính thức dừng hoạt động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9334500" y="-6105525"/>
            <a:ext cx="28575" cy="4762500"/>
            <a:chOff x="0" y="0"/>
            <a:chExt cx="381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100" cy="6350000"/>
            </a:xfrm>
            <a:custGeom>
              <a:avLst/>
              <a:gdLst/>
              <a:ahLst/>
              <a:cxnLst/>
              <a:rect l="l" t="t" r="r" b="b"/>
              <a:pathLst>
                <a:path w="38100" h="6350000">
                  <a:moveTo>
                    <a:pt x="0" y="0"/>
                  </a:moveTo>
                  <a:lnTo>
                    <a:pt x="38100" y="0"/>
                  </a:lnTo>
                  <a:lnTo>
                    <a:pt x="381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D9DEF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1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12" name="TextBox 2"/>
          <p:cNvSpPr txBox="1"/>
          <p:nvPr/>
        </p:nvSpPr>
        <p:spPr>
          <a:xfrm>
            <a:off x="952500" y="-4152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Từ Skype for Business đến Microsoft Teams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13" name="Group 3"/>
          <p:cNvGrpSpPr/>
          <p:nvPr/>
        </p:nvGrpSpPr>
        <p:grpSpPr>
          <a:xfrm rot="0">
            <a:off x="1428750" y="11682095"/>
            <a:ext cx="4762500" cy="2000250"/>
            <a:chOff x="0" y="0"/>
            <a:chExt cx="6350000" cy="2667000"/>
          </a:xfrm>
        </p:grpSpPr>
        <p:sp>
          <p:nvSpPr>
            <p:cNvPr id="14" name="Freeform 4"/>
            <p:cNvSpPr/>
            <p:nvPr/>
          </p:nvSpPr>
          <p:spPr>
            <a:xfrm>
              <a:off x="0" y="0"/>
              <a:ext cx="6350000" cy="2667000"/>
            </a:xfrm>
            <a:custGeom>
              <a:avLst/>
              <a:gdLst/>
              <a:ahLst/>
              <a:cxnLst/>
              <a:rect l="l" t="t" r="r" b="b"/>
              <a:pathLst>
                <a:path w="6350000" h="2667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54A9E8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5"/>
            <p:cNvSpPr txBox="1"/>
            <p:nvPr/>
          </p:nvSpPr>
          <p:spPr>
            <a:xfrm>
              <a:off x="0" y="19050"/>
              <a:ext cx="6350000" cy="264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SKYPE FOR BUSINESS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6" name="Group 6"/>
          <p:cNvGrpSpPr/>
          <p:nvPr/>
        </p:nvGrpSpPr>
        <p:grpSpPr>
          <a:xfrm rot="0">
            <a:off x="12096750" y="11682095"/>
            <a:ext cx="4762500" cy="2000250"/>
            <a:chOff x="0" y="0"/>
            <a:chExt cx="6350000" cy="2667000"/>
          </a:xfrm>
        </p:grpSpPr>
        <p:sp>
          <p:nvSpPr>
            <p:cNvPr id="17" name="Freeform 7"/>
            <p:cNvSpPr/>
            <p:nvPr/>
          </p:nvSpPr>
          <p:spPr>
            <a:xfrm>
              <a:off x="0" y="0"/>
              <a:ext cx="6350000" cy="2667000"/>
            </a:xfrm>
            <a:custGeom>
              <a:avLst/>
              <a:gdLst/>
              <a:ahLst/>
              <a:cxnLst/>
              <a:rect l="l" t="t" r="r" b="b"/>
              <a:pathLst>
                <a:path w="6350000" h="2667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4F7DF3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8"/>
            <p:cNvSpPr txBox="1"/>
            <p:nvPr/>
          </p:nvSpPr>
          <p:spPr>
            <a:xfrm>
              <a:off x="0" y="19050"/>
              <a:ext cx="6350000" cy="264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MICROSOFT TEAMS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9" name="AutoShape 9"/>
          <p:cNvSpPr/>
          <p:nvPr/>
        </p:nvSpPr>
        <p:spPr>
          <a:xfrm>
            <a:off x="6572250" y="12682220"/>
            <a:ext cx="5143500" cy="0"/>
          </a:xfrm>
          <a:prstGeom prst="line">
            <a:avLst/>
          </a:prstGeom>
          <a:ln w="76200" cap="rnd">
            <a:solidFill>
              <a:srgbClr val="7C5C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TextBox 10"/>
          <p:cNvSpPr txBox="1"/>
          <p:nvPr/>
        </p:nvSpPr>
        <p:spPr>
          <a:xfrm>
            <a:off x="7239000" y="11539220"/>
            <a:ext cx="3810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1">
                <a:solidFill>
                  <a:srgbClr val="7C5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Chuyển đổi nền tảng</a:t>
            </a:r>
            <a:endParaRPr lang="en-US" sz="2025" b="1">
              <a:solidFill>
                <a:srgbClr val="7C5C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5334000" y="-2628265"/>
            <a:ext cx="7620000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05.05.2025</a:t>
            </a:r>
            <a:endParaRPr lang="en-US" sz="720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4857750" y="-1361440"/>
            <a:ext cx="8572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Skype for Business chính thức dừng hoạt động</a:t>
            </a:r>
            <a:endParaRPr lang="en-US" sz="202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048000" y="38100"/>
            <a:ext cx="11206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Giao diện của từng ứng dụng</a:t>
            </a:r>
            <a:endParaRPr lang="en-US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iao diện của các ứng dụng giao tiếp trực tuyến - Quang Nhật Cao (1080p, h264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00600" y="1181100"/>
            <a:ext cx="8229600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So sánh nhanh ba nền tảng</a:t>
            </a:r>
            <a:endParaRPr lang="en-US" sz="43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952500" y="2000250"/>
            <a:ext cx="4476750" cy="762000"/>
            <a:chOff x="0" y="0"/>
            <a:chExt cx="5969000" cy="10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69000" cy="1016000"/>
            </a:xfrm>
            <a:custGeom>
              <a:avLst/>
              <a:gdLst/>
              <a:ahLst/>
              <a:cxnLst/>
              <a:rect l="l" t="t" r="r" b="b"/>
              <a:pathLst>
                <a:path w="5969000" h="1016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967362"/>
                  </a:lnTo>
                  <a:cubicBezTo>
                    <a:pt x="5969000" y="980261"/>
                    <a:pt x="5963876" y="992633"/>
                    <a:pt x="5954754" y="1001754"/>
                  </a:cubicBezTo>
                  <a:cubicBezTo>
                    <a:pt x="5945633" y="1010876"/>
                    <a:pt x="5933261" y="1016000"/>
                    <a:pt x="5920362" y="1016000"/>
                  </a:cubicBezTo>
                  <a:lnTo>
                    <a:pt x="48638" y="1016000"/>
                  </a:lnTo>
                  <a:cubicBezTo>
                    <a:pt x="35739" y="1016000"/>
                    <a:pt x="23367" y="1010876"/>
                    <a:pt x="14246" y="1001754"/>
                  </a:cubicBezTo>
                  <a:cubicBezTo>
                    <a:pt x="5124" y="992633"/>
                    <a:pt x="0" y="980261"/>
                    <a:pt x="0" y="967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303858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969000" cy="99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TIÊU CHÍ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5715000" y="2000250"/>
            <a:ext cx="3714750" cy="762000"/>
            <a:chOff x="0" y="0"/>
            <a:chExt cx="4953000" cy="10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53000" cy="1016000"/>
            </a:xfrm>
            <a:custGeom>
              <a:avLst/>
              <a:gdLst/>
              <a:ahLst/>
              <a:cxnLst/>
              <a:rect l="l" t="t" r="r" b="b"/>
              <a:pathLst>
                <a:path w="4953000" h="1016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957385"/>
                  </a:lnTo>
                  <a:cubicBezTo>
                    <a:pt x="4953000" y="989757"/>
                    <a:pt x="4926757" y="1016000"/>
                    <a:pt x="4894385" y="1016000"/>
                  </a:cubicBezTo>
                  <a:lnTo>
                    <a:pt x="58615" y="1016000"/>
                  </a:lnTo>
                  <a:cubicBezTo>
                    <a:pt x="26243" y="1016000"/>
                    <a:pt x="0" y="989757"/>
                    <a:pt x="0" y="957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D9468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4953000" cy="99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SLACK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9715500" y="2000250"/>
            <a:ext cx="3714750" cy="762000"/>
            <a:chOff x="0" y="0"/>
            <a:chExt cx="4953000" cy="101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53000" cy="1016000"/>
            </a:xfrm>
            <a:custGeom>
              <a:avLst/>
              <a:gdLst/>
              <a:ahLst/>
              <a:cxnLst/>
              <a:rect l="l" t="t" r="r" b="b"/>
              <a:pathLst>
                <a:path w="4953000" h="1016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957385"/>
                  </a:lnTo>
                  <a:cubicBezTo>
                    <a:pt x="4953000" y="989757"/>
                    <a:pt x="4926757" y="1016000"/>
                    <a:pt x="4894385" y="1016000"/>
                  </a:cubicBezTo>
                  <a:lnTo>
                    <a:pt x="58615" y="1016000"/>
                  </a:lnTo>
                  <a:cubicBezTo>
                    <a:pt x="26243" y="1016000"/>
                    <a:pt x="0" y="989757"/>
                    <a:pt x="0" y="957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6857E5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4953000" cy="99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DISCORD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3716000" y="2000250"/>
            <a:ext cx="3619500" cy="762000"/>
            <a:chOff x="0" y="0"/>
            <a:chExt cx="4826000" cy="101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26000" cy="1016000"/>
            </a:xfrm>
            <a:custGeom>
              <a:avLst/>
              <a:gdLst/>
              <a:ahLst/>
              <a:cxnLst/>
              <a:rect l="l" t="t" r="r" b="b"/>
              <a:pathLst>
                <a:path w="4826000" h="1016000">
                  <a:moveTo>
                    <a:pt x="60158" y="0"/>
                  </a:moveTo>
                  <a:lnTo>
                    <a:pt x="4765842" y="0"/>
                  </a:lnTo>
                  <a:cubicBezTo>
                    <a:pt x="4799066" y="0"/>
                    <a:pt x="4826000" y="26934"/>
                    <a:pt x="4826000" y="60158"/>
                  </a:cubicBezTo>
                  <a:lnTo>
                    <a:pt x="4826000" y="955842"/>
                  </a:lnTo>
                  <a:cubicBezTo>
                    <a:pt x="4826000" y="989066"/>
                    <a:pt x="4799066" y="1016000"/>
                    <a:pt x="4765842" y="1016000"/>
                  </a:cubicBezTo>
                  <a:lnTo>
                    <a:pt x="60158" y="1016000"/>
                  </a:lnTo>
                  <a:cubicBezTo>
                    <a:pt x="26934" y="1016000"/>
                    <a:pt x="0" y="989066"/>
                    <a:pt x="0" y="955842"/>
                  </a:cubicBezTo>
                  <a:lnTo>
                    <a:pt x="0" y="60158"/>
                  </a:lnTo>
                  <a:cubicBezTo>
                    <a:pt x="0" y="26934"/>
                    <a:pt x="26934" y="0"/>
                    <a:pt x="60158" y="0"/>
                  </a:cubicBezTo>
                  <a:close/>
                </a:path>
              </a:pathLst>
            </a:custGeom>
            <a:solidFill>
              <a:srgbClr val="4F7DF3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4826000" cy="996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TEAMS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5375" y="3105150"/>
            <a:ext cx="4191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Định vị</a:t>
            </a:r>
            <a:endParaRPr lang="en-US" sz="187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57875" y="311467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Doanh nghiệp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58375" y="311467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Cộng đồng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858875" y="3114675"/>
            <a:ext cx="33337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Tổ chức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95375" y="4295775"/>
            <a:ext cx="4191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Âm thanh / video</a:t>
            </a:r>
            <a:endParaRPr lang="en-US" sz="187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857875" y="4305300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Tốt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58375" y="4305300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Rất mạnh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858875" y="4305300"/>
            <a:ext cx="33337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Rất mạnh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95375" y="5486400"/>
            <a:ext cx="4191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Kênh</a:t>
            </a:r>
            <a:endParaRPr lang="en-US" sz="187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857875" y="549592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Linh hoạt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58375" y="549592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Server đa tầng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858875" y="5495925"/>
            <a:ext cx="33337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Theo nhóm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95375" y="6677025"/>
            <a:ext cx="4191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Tích hợp</a:t>
            </a:r>
            <a:endParaRPr lang="en-US" sz="187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857875" y="6686550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Rất rộng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58375" y="6686550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 phong phú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58875" y="6686550"/>
            <a:ext cx="33337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Office sâu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95375" y="7867650"/>
            <a:ext cx="4191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Tệp &amp; tìm kiếm</a:t>
            </a:r>
            <a:endParaRPr lang="en-US" sz="1875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857875" y="787717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Mạnh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858375" y="7877175"/>
            <a:ext cx="3429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Cơ bản–tốt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858875" y="7877175"/>
            <a:ext cx="33337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Mạnh</a:t>
            </a: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52500" y="3857625"/>
            <a:ext cx="16383000" cy="0"/>
          </a:xfrm>
          <a:prstGeom prst="line">
            <a:avLst/>
          </a:prstGeom>
          <a:ln w="19050" cap="flat">
            <a:solidFill>
              <a:srgbClr val="30385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>
            <a:off x="952500" y="5048250"/>
            <a:ext cx="16383000" cy="0"/>
          </a:xfrm>
          <a:prstGeom prst="line">
            <a:avLst/>
          </a:prstGeom>
          <a:ln w="19050" cap="flat">
            <a:solidFill>
              <a:srgbClr val="30385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952500" y="6238875"/>
            <a:ext cx="16383000" cy="0"/>
          </a:xfrm>
          <a:prstGeom prst="line">
            <a:avLst/>
          </a:prstGeom>
          <a:ln w="19050" cap="flat">
            <a:solidFill>
              <a:srgbClr val="30385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952500" y="7429500"/>
            <a:ext cx="16383000" cy="0"/>
          </a:xfrm>
          <a:prstGeom prst="line">
            <a:avLst/>
          </a:prstGeom>
          <a:ln w="19050" cap="flat">
            <a:solidFill>
              <a:srgbClr val="30385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>
            <a:off x="952500" y="8620125"/>
            <a:ext cx="16383000" cy="0"/>
          </a:xfrm>
          <a:prstGeom prst="line">
            <a:avLst/>
          </a:prstGeom>
          <a:ln w="19050" cap="flat">
            <a:solidFill>
              <a:srgbClr val="30385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Ứng dụng nào phù hợp với ai?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952500" y="2381250"/>
            <a:ext cx="4857750" cy="6000750"/>
            <a:chOff x="0" y="0"/>
            <a:chExt cx="6477000" cy="8001000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6477000" cy="8001000"/>
              <a:chOff x="0" y="0"/>
              <a:chExt cx="6477000" cy="8001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77000" cy="8001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8001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D9468D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477000" cy="803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2600" y="631825"/>
              <a:ext cx="5461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 b="1">
                  <a:solidFill>
                    <a:srgbClr val="D9468D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SLACK</a:t>
              </a:r>
              <a:endParaRPr lang="en-US" sz="3300" b="1">
                <a:solidFill>
                  <a:srgbClr val="D9468D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2600" y="2238375"/>
              <a:ext cx="546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+ Tích hợp, chuẩn doanh nghiệp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2600" y="4016375"/>
              <a:ext cx="546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− Chi phí cao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0" y="6184900"/>
              <a:ext cx="5461000" cy="803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1725" b="1">
                  <a:solidFill>
                    <a:srgbClr val="151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PHÙ HỢP</a:t>
              </a:r>
              <a:endParaRPr lang="en-US" sz="17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2500"/>
                </a:lnSpc>
              </a:pPr>
              <a:r>
                <a:rPr lang="en-US" sz="1725" b="1">
                  <a:solidFill>
                    <a:srgbClr val="151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Nhóm sản phẩm &amp; công ty số</a:t>
              </a:r>
              <a:endParaRPr lang="en-US" sz="17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6477000" y="2381250"/>
            <a:ext cx="4857750" cy="6000750"/>
            <a:chOff x="0" y="0"/>
            <a:chExt cx="6477000" cy="8001000"/>
          </a:xfrm>
        </p:grpSpPr>
        <p:grpSp>
          <p:nvGrpSpPr>
            <p:cNvPr id="12" name="Group 12"/>
            <p:cNvGrpSpPr/>
            <p:nvPr/>
          </p:nvGrpSpPr>
          <p:grpSpPr>
            <a:xfrm rot="0">
              <a:off x="0" y="0"/>
              <a:ext cx="6477000" cy="8001000"/>
              <a:chOff x="0" y="0"/>
              <a:chExt cx="6477000" cy="8001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477000" cy="8001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8001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6857E5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6477000" cy="803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82600" y="631825"/>
              <a:ext cx="5461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 b="1">
                  <a:solidFill>
                    <a:srgbClr val="6857E5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DISCORD</a:t>
              </a:r>
              <a:endParaRPr lang="en-US" sz="3300" b="1">
                <a:solidFill>
                  <a:srgbClr val="6857E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2600" y="2238375"/>
              <a:ext cx="546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+ Cộng đồng, gói miễn phí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2600" y="4016375"/>
              <a:ext cx="546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− Kém hợp quản trị truyền thống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2600" y="6184900"/>
              <a:ext cx="5461000" cy="803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1725" b="1">
                  <a:solidFill>
                    <a:srgbClr val="151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PHÙ HỢP</a:t>
              </a:r>
              <a:endParaRPr lang="en-US" sz="17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2500"/>
                </a:lnSpc>
              </a:pPr>
              <a:r>
                <a:rPr lang="en-US" sz="1725" b="1">
                  <a:solidFill>
                    <a:srgbClr val="151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CLB, creator &amp; cộng đồng</a:t>
              </a:r>
              <a:endParaRPr lang="en-US" sz="17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2001500" y="2381250"/>
            <a:ext cx="4857750" cy="6000750"/>
            <a:chOff x="0" y="0"/>
            <a:chExt cx="6477000" cy="8001000"/>
          </a:xfrm>
        </p:grpSpPr>
        <p:grpSp>
          <p:nvGrpSpPr>
            <p:cNvPr id="20" name="Group 20"/>
            <p:cNvGrpSpPr/>
            <p:nvPr/>
          </p:nvGrpSpPr>
          <p:grpSpPr>
            <a:xfrm rot="0">
              <a:off x="0" y="0"/>
              <a:ext cx="6477000" cy="8001000"/>
              <a:chOff x="0" y="0"/>
              <a:chExt cx="6477000" cy="8001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477000" cy="8001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8001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F7DF3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477000" cy="803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82600" y="631825"/>
              <a:ext cx="5461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 b="1">
                  <a:solidFill>
                    <a:srgbClr val="4F7DF3"/>
                  </a:solidFill>
                  <a:latin typeface="Be Vietnam Ultra-Bold" panose="00000900000000000000"/>
                  <a:ea typeface="Be Vietnam Ultra-Bold" panose="00000900000000000000"/>
                  <a:cs typeface="Be Vietnam Ultra-Bold" panose="00000900000000000000"/>
                  <a:sym typeface="Be Vietnam Ultra-Bold" panose="00000900000000000000"/>
                </a:rPr>
                <a:t>TEAMS</a:t>
              </a:r>
              <a:endParaRPr lang="en-US" sz="3300" b="1">
                <a:solidFill>
                  <a:srgbClr val="4F7DF3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2600" y="2238375"/>
              <a:ext cx="546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+ Office, quản trị quy mô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2600" y="4016375"/>
              <a:ext cx="5461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51A35"/>
                  </a:solidFill>
                  <a:latin typeface="Open Sans"/>
                  <a:ea typeface="Open Sans"/>
                  <a:cs typeface="Open Sans"/>
                  <a:sym typeface="Open Sans"/>
                </a:rPr>
                <a:t>− Giao diện phức tạp</a:t>
              </a:r>
              <a:endParaRPr lang="en-US" sz="202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2600" y="6184900"/>
              <a:ext cx="5461000" cy="803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1725" b="1">
                  <a:solidFill>
                    <a:srgbClr val="151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PHÙ HỢP</a:t>
              </a:r>
              <a:endParaRPr lang="en-US" sz="17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2500"/>
                </a:lnSpc>
              </a:pPr>
              <a:r>
                <a:rPr lang="en-US" sz="1725" b="1">
                  <a:solidFill>
                    <a:srgbClr val="151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Trường học &amp; tổ chức lớn</a:t>
              </a:r>
              <a:endParaRPr lang="en-US" sz="1725" b="1">
                <a:solidFill>
                  <a:srgbClr val="151A3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Chọn theo môi trường — không theo xu hướng</a:t>
            </a:r>
            <a:endParaRPr lang="en-US" sz="435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53000" y="2314575"/>
            <a:ext cx="83820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Bạn cần tối ưu điều gì?</a:t>
            </a:r>
            <a:endParaRPr lang="en-US" sz="3600" b="1">
              <a:solidFill>
                <a:srgbClr val="FFFFFF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238250" y="4381500"/>
            <a:ext cx="4762500" cy="1000125"/>
            <a:chOff x="0" y="0"/>
            <a:chExt cx="6350000" cy="1333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1333500"/>
            </a:xfrm>
            <a:custGeom>
              <a:avLst/>
              <a:gdLst/>
              <a:ahLst/>
              <a:cxnLst/>
              <a:rect l="l" t="t" r="r" b="b"/>
              <a:pathLst>
                <a:path w="6350000" h="13335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03858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DOANH NGHIỆP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238250" y="6191250"/>
            <a:ext cx="4762500" cy="1333500"/>
            <a:chOff x="0" y="0"/>
            <a:chExt cx="6350000" cy="177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1778000"/>
            </a:xfrm>
            <a:custGeom>
              <a:avLst/>
              <a:gdLst/>
              <a:ahLst/>
              <a:cxnLst/>
              <a:rect l="l" t="t" r="r" b="b"/>
              <a:pathLst>
                <a:path w="6350000" h="1778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732280"/>
                  </a:lnTo>
                  <a:cubicBezTo>
                    <a:pt x="6350000" y="1757531"/>
                    <a:pt x="6329530" y="1778000"/>
                    <a:pt x="6304280" y="1778000"/>
                  </a:cubicBezTo>
                  <a:lnTo>
                    <a:pt x="45720" y="1778000"/>
                  </a:lnTo>
                  <a:cubicBezTo>
                    <a:pt x="20470" y="1778000"/>
                    <a:pt x="0" y="1757531"/>
                    <a:pt x="0" y="1732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9468D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350000" cy="175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SLACK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619500" y="5381625"/>
            <a:ext cx="0" cy="714375"/>
          </a:xfrm>
          <a:prstGeom prst="line">
            <a:avLst/>
          </a:prstGeom>
          <a:ln w="47625" cap="flat">
            <a:solidFill>
              <a:srgbClr val="D9468D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 rot="0">
            <a:off x="6858000" y="4381500"/>
            <a:ext cx="4762500" cy="1000125"/>
            <a:chOff x="0" y="0"/>
            <a:chExt cx="6350000" cy="1333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1333500"/>
            </a:xfrm>
            <a:custGeom>
              <a:avLst/>
              <a:gdLst/>
              <a:ahLst/>
              <a:cxnLst/>
              <a:rect l="l" t="t" r="r" b="b"/>
              <a:pathLst>
                <a:path w="6350000" h="13335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0385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CỘNG ĐỒNG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6858000" y="6191250"/>
            <a:ext cx="4762500" cy="1333500"/>
            <a:chOff x="0" y="0"/>
            <a:chExt cx="6350000" cy="177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1778000"/>
            </a:xfrm>
            <a:custGeom>
              <a:avLst/>
              <a:gdLst/>
              <a:ahLst/>
              <a:cxnLst/>
              <a:rect l="l" t="t" r="r" b="b"/>
              <a:pathLst>
                <a:path w="6350000" h="1778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732280"/>
                  </a:lnTo>
                  <a:cubicBezTo>
                    <a:pt x="6350000" y="1757531"/>
                    <a:pt x="6329530" y="1778000"/>
                    <a:pt x="6304280" y="1778000"/>
                  </a:cubicBezTo>
                  <a:lnTo>
                    <a:pt x="45720" y="1778000"/>
                  </a:lnTo>
                  <a:cubicBezTo>
                    <a:pt x="20470" y="1778000"/>
                    <a:pt x="0" y="1757531"/>
                    <a:pt x="0" y="1732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6857E5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6350000" cy="175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DISCORD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239250" y="5381625"/>
            <a:ext cx="0" cy="714375"/>
          </a:xfrm>
          <a:prstGeom prst="line">
            <a:avLst/>
          </a:prstGeom>
          <a:ln w="47625" cap="flat">
            <a:solidFill>
              <a:srgbClr val="6857E5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 rot="0">
            <a:off x="12477750" y="4381500"/>
            <a:ext cx="4762500" cy="1000125"/>
            <a:chOff x="0" y="0"/>
            <a:chExt cx="6350000" cy="1333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1333500"/>
            </a:xfrm>
            <a:custGeom>
              <a:avLst/>
              <a:gdLst/>
              <a:ahLst/>
              <a:cxnLst/>
              <a:rect l="l" t="t" r="r" b="b"/>
              <a:pathLst>
                <a:path w="6350000" h="13335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03858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GIÁO DỤC / TỔ CHỨC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12477750" y="6191250"/>
            <a:ext cx="4762500" cy="1333500"/>
            <a:chOff x="0" y="0"/>
            <a:chExt cx="6350000" cy="1778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1778000"/>
            </a:xfrm>
            <a:custGeom>
              <a:avLst/>
              <a:gdLst/>
              <a:ahLst/>
              <a:cxnLst/>
              <a:rect l="l" t="t" r="r" b="b"/>
              <a:pathLst>
                <a:path w="6350000" h="1778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732280"/>
                  </a:lnTo>
                  <a:cubicBezTo>
                    <a:pt x="6350000" y="1757531"/>
                    <a:pt x="6329530" y="1778000"/>
                    <a:pt x="6304280" y="1778000"/>
                  </a:cubicBezTo>
                  <a:lnTo>
                    <a:pt x="45720" y="1778000"/>
                  </a:lnTo>
                  <a:cubicBezTo>
                    <a:pt x="20470" y="1778000"/>
                    <a:pt x="0" y="1757531"/>
                    <a:pt x="0" y="1732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4F7DF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50000" cy="175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TEAMS</a:t>
              </a: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859000" y="5381625"/>
            <a:ext cx="0" cy="714375"/>
          </a:xfrm>
          <a:prstGeom prst="line">
            <a:avLst/>
          </a:prstGeom>
          <a:ln w="47625" cap="flat">
            <a:solidFill>
              <a:srgbClr val="4F7DF3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TextBox 25"/>
          <p:cNvSpPr txBox="1"/>
          <p:nvPr/>
        </p:nvSpPr>
        <p:spPr>
          <a:xfrm>
            <a:off x="2857500" y="8524875"/>
            <a:ext cx="12573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Cân nhắc đồng thời: tính năng  •  chi phí  •  văn hóa làm việc</a:t>
            </a: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72390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350" b="1">
                <a:solidFill>
                  <a:srgbClr val="151A35"/>
                </a:solidFill>
                <a:latin typeface="Be Vietnam Ultra-Bold" panose="00000900000000000000"/>
                <a:ea typeface="Be Vietnam Ultra-Bold" panose="00000900000000000000"/>
                <a:cs typeface="Be Vietnam Ultra-Bold" panose="00000900000000000000"/>
                <a:sym typeface="Be Vietnam Ultra-Bold" panose="00000900000000000000"/>
              </a:rPr>
              <a:t>Tài liệu tham khảo</a:t>
            </a:r>
            <a:endParaRPr lang="en-US" sz="4350" b="1">
              <a:solidFill>
                <a:srgbClr val="151A35"/>
              </a:solidFill>
              <a:latin typeface="Be Vietnam Ultra-Bold" panose="00000900000000000000"/>
              <a:ea typeface="Be Vietnam Ultra-Bold" panose="00000900000000000000"/>
              <a:cs typeface="Be Vietnam Ultra-Bold" panose="00000900000000000000"/>
              <a:sym typeface="Be Vietnam Ultra-Bold" panose="000009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81250" y="2438400"/>
            <a:ext cx="135255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01   Taskade — lịch sử và so sánh công cụ cộng tác</a:t>
            </a:r>
            <a:endParaRPr lang="en-US" sz="217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81250" y="3629025"/>
            <a:ext cx="135255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02   HackerNoon — câu chuyện hình thành Slack và Discord</a:t>
            </a:r>
            <a:endParaRPr lang="en-US" sz="217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81250" y="4819650"/>
            <a:ext cx="135255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03   Wikipedia — Slack, Discord, Microsoft Teams</a:t>
            </a:r>
            <a:endParaRPr lang="en-US" sz="217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81250" y="6010275"/>
            <a:ext cx="135255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04   Trang chính thức Discord — tính năng và cộng đồng</a:t>
            </a:r>
            <a:endParaRPr lang="en-US" sz="217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81250" y="7200900"/>
            <a:ext cx="135255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51A35"/>
                </a:solidFill>
                <a:latin typeface="Open Sans"/>
                <a:ea typeface="Open Sans"/>
                <a:cs typeface="Open Sans"/>
                <a:sym typeface="Open Sans"/>
              </a:rPr>
              <a:t>05   Trang chính thức Microsoft Teams — sản phẩm và vòng đời Skype</a:t>
            </a:r>
            <a:endParaRPr lang="en-US" sz="2175">
              <a:solidFill>
                <a:srgbClr val="151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524000" y="2190750"/>
            <a:ext cx="114300" cy="5953125"/>
            <a:chOff x="0" y="0"/>
            <a:chExt cx="152400" cy="7937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" cy="7937500"/>
            </a:xfrm>
            <a:custGeom>
              <a:avLst/>
              <a:gdLst/>
              <a:ahLst/>
              <a:cxnLst/>
              <a:rect l="l" t="t" r="r" b="b"/>
              <a:pathLst>
                <a:path w="152400" h="7937500">
                  <a:moveTo>
                    <a:pt x="0" y="0"/>
                  </a:moveTo>
                  <a:lnTo>
                    <a:pt x="152400" y="0"/>
                  </a:lnTo>
                  <a:lnTo>
                    <a:pt x="152400" y="7937500"/>
                  </a:lnTo>
                  <a:lnTo>
                    <a:pt x="0" y="7937500"/>
                  </a:lnTo>
                  <a:close/>
                </a:path>
              </a:pathLst>
            </a:custGeom>
            <a:solidFill>
              <a:srgbClr val="7C5C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" cy="797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81250" y="8639175"/>
            <a:ext cx="8572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75">
                <a:solidFill>
                  <a:srgbClr val="66708F"/>
                </a:solidFill>
                <a:latin typeface="Open Sans"/>
                <a:ea typeface="Open Sans"/>
                <a:cs typeface="Open Sans"/>
                <a:sym typeface="Open Sans"/>
              </a:rPr>
              <a:t>Truy cập và đối chiếu nguồn: 10/2026</a:t>
            </a:r>
            <a:endParaRPr lang="en-US" sz="1575">
              <a:solidFill>
                <a:srgbClr val="66708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3707</Words>
  <Application>WPS Presentation</Application>
  <PresentationFormat>On-screen Show (4:3)</PresentationFormat>
  <Paragraphs>311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Lato Bold</vt:lpstr>
      <vt:lpstr>Open Sans Bold</vt:lpstr>
      <vt:lpstr>Be Vietnam Ultra-Bold</vt:lpstr>
      <vt:lpstr>Open Sans</vt:lpstr>
      <vt:lpstr>Microsoft YaHei</vt:lpstr>
      <vt:lpstr>Arial Unicode MS</vt:lpstr>
      <vt:lpstr>Calibri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sánh công cụ CNTT</dc:title>
  <dc:creator/>
  <cp:lastModifiedBy>Quang Nhật Cao</cp:lastModifiedBy>
  <cp:revision>3</cp:revision>
  <dcterms:created xsi:type="dcterms:W3CDTF">2006-08-16T00:00:00Z</dcterms:created>
  <dcterms:modified xsi:type="dcterms:W3CDTF">2026-10-23T03:52:03Z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6571FBA591684DB9887BF633776C6E57_12</vt:lpwstr>
  </property>
</Properties>
</file>